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DD181E-B3D1-438A-AB40-A9F18718907C}" v="9" dt="2025-12-16T16:02:07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ghashree1937@gmail.com" userId="c7185709eb76bcc0" providerId="LiveId" clId="{2D2ACD9A-2F11-4366-8133-854DB114E983}"/>
    <pc:docChg chg="undo custSel modSld delMainMaster">
      <pc:chgData name="anaghashree1937@gmail.com" userId="c7185709eb76bcc0" providerId="LiveId" clId="{2D2ACD9A-2F11-4366-8133-854DB114E983}" dt="2025-12-16T16:02:07.747" v="180"/>
      <pc:docMkLst>
        <pc:docMk/>
      </pc:docMkLst>
      <pc:sldChg chg="modSp mod">
        <pc:chgData name="anaghashree1937@gmail.com" userId="c7185709eb76bcc0" providerId="LiveId" clId="{2D2ACD9A-2F11-4366-8133-854DB114E983}" dt="2025-12-16T16:02:07.747" v="180"/>
        <pc:sldMkLst>
          <pc:docMk/>
          <pc:sldMk cId="0" sldId="256"/>
        </pc:sldMkLst>
        <pc:spChg chg="mod">
          <ac:chgData name="anaghashree1937@gmail.com" userId="c7185709eb76bcc0" providerId="LiveId" clId="{2D2ACD9A-2F11-4366-8133-854DB114E983}" dt="2025-12-16T16:02:07.747" v="180"/>
          <ac:spMkLst>
            <pc:docMk/>
            <pc:sldMk cId="0" sldId="256"/>
            <ac:spMk id="77" creationId="{00000000-0000-0000-0000-000000000000}"/>
          </ac:spMkLst>
        </pc:spChg>
        <pc:grpChg chg="mod">
          <ac:chgData name="anaghashree1937@gmail.com" userId="c7185709eb76bcc0" providerId="LiveId" clId="{2D2ACD9A-2F11-4366-8133-854DB114E983}" dt="2025-12-16T15:54:58.804" v="1" actId="1076"/>
          <ac:grpSpMkLst>
            <pc:docMk/>
            <pc:sldMk cId="0" sldId="256"/>
            <ac:grpSpMk id="67" creationId="{00000000-0000-0000-0000-000000000000}"/>
          </ac:grpSpMkLst>
        </pc:grpChg>
      </pc:sld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50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50"/>
            <pc:sldLayoutMk cId="0" sldId="2147483651"/>
          </pc:sldLayoutMkLst>
        </pc:sldLayoutChg>
      </pc:sldMaster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52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54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54"/>
            <pc:sldLayoutMk cId="0" sldId="2147483655"/>
          </pc:sldLayoutMkLst>
        </pc:sldLayoutChg>
      </pc:sldMaster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56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56"/>
            <pc:sldLayoutMk cId="0" sldId="2147483657"/>
          </pc:sldLayoutMkLst>
        </pc:sldLayoutChg>
      </pc:sldMaster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58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58"/>
            <pc:sldLayoutMk cId="0" sldId="2147483659"/>
          </pc:sldLayoutMkLst>
        </pc:sldLayoutChg>
      </pc:sldMaster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60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60"/>
            <pc:sldLayoutMk cId="0" sldId="2147483661"/>
          </pc:sldLayoutMkLst>
        </pc:sldLayoutChg>
      </pc:sldMaster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62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62"/>
            <pc:sldLayoutMk cId="0" sldId="2147483663"/>
          </pc:sldLayoutMkLst>
        </pc:sldLayoutChg>
      </pc:sldMaster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66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66"/>
            <pc:sldLayoutMk cId="0" sldId="2147483667"/>
          </pc:sldLayoutMkLst>
        </pc:sldLayoutChg>
      </pc:sldMasterChg>
      <pc:sldMasterChg chg="del delSldLayout">
        <pc:chgData name="anaghashree1937@gmail.com" userId="c7185709eb76bcc0" providerId="LiveId" clId="{2D2ACD9A-2F11-4366-8133-854DB114E983}" dt="2025-12-16T15:55:13.039" v="40"/>
        <pc:sldMasterMkLst>
          <pc:docMk/>
          <pc:sldMasterMk cId="0" sldId="2147483668"/>
        </pc:sldMasterMkLst>
        <pc:sldLayoutChg chg="del">
          <pc:chgData name="anaghashree1937@gmail.com" userId="c7185709eb76bcc0" providerId="LiveId" clId="{2D2ACD9A-2F11-4366-8133-854DB114E983}" dt="2025-12-16T15:55:13.039" v="40"/>
          <pc:sldLayoutMkLst>
            <pc:docMk/>
            <pc:sldMasterMk cId="0" sldId="2147483668"/>
            <pc:sldLayoutMk cId="0" sldId="214748366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46ACAC-31C6-4090-8912-34716C055EA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7AE555BF-FA55-40C2-B57A-58DC9C888DE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4CD359-B181-4BBF-BEF1-2D24F33FD8B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A13C36-EC62-43E7-B81E-2F08A3C792F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1ms25scn013-t@msrit.edu" TargetMode="External"/><Relationship Id="rId2" Type="http://schemas.openxmlformats.org/officeDocument/2006/relationships/hyperlink" Target="mailto:sumakv@msrit.ed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sujay.s@samsung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2"/>
          <p:cNvGrpSpPr/>
          <p:nvPr/>
        </p:nvGrpSpPr>
        <p:grpSpPr>
          <a:xfrm>
            <a:off x="413280" y="4249800"/>
            <a:ext cx="17387640" cy="5297040"/>
            <a:chOff x="413280" y="4249800"/>
            <a:chExt cx="17387640" cy="5297040"/>
          </a:xfrm>
        </p:grpSpPr>
        <p:sp>
          <p:nvSpPr>
            <p:cNvPr id="68" name="Freeform 3"/>
            <p:cNvSpPr/>
            <p:nvPr/>
          </p:nvSpPr>
          <p:spPr>
            <a:xfrm>
              <a:off x="413280" y="4249800"/>
              <a:ext cx="17387640" cy="5297040"/>
            </a:xfrm>
            <a:custGeom>
              <a:avLst/>
              <a:gdLst>
                <a:gd name="textAreaLeft" fmla="*/ 0 w 17387640"/>
                <a:gd name="textAreaRight" fmla="*/ 17388000 w 17387640"/>
                <a:gd name="textAreaTop" fmla="*/ 0 h 5297040"/>
                <a:gd name="textAreaBottom" fmla="*/ 5297400 h 5297040"/>
              </a:gdLst>
              <a:ahLst/>
              <a:cxnLst/>
              <a:rect l="textAreaLeft" t="textAreaTop" r="textAreaRight" b="textAreaBottom"/>
              <a:pathLst>
                <a:path w="23183850" h="7063359">
                  <a:moveTo>
                    <a:pt x="0" y="0"/>
                  </a:moveTo>
                  <a:lnTo>
                    <a:pt x="23183850" y="0"/>
                  </a:lnTo>
                  <a:lnTo>
                    <a:pt x="23183850" y="7063359"/>
                  </a:lnTo>
                  <a:lnTo>
                    <a:pt x="0" y="7063359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" name="Group 4"/>
          <p:cNvGrpSpPr/>
          <p:nvPr/>
        </p:nvGrpSpPr>
        <p:grpSpPr>
          <a:xfrm>
            <a:off x="0" y="157680"/>
            <a:ext cx="253800" cy="723600"/>
            <a:chOff x="0" y="157680"/>
            <a:chExt cx="253800" cy="723600"/>
          </a:xfrm>
        </p:grpSpPr>
        <p:sp>
          <p:nvSpPr>
            <p:cNvPr id="70" name="Freeform 5"/>
            <p:cNvSpPr/>
            <p:nvPr/>
          </p:nvSpPr>
          <p:spPr>
            <a:xfrm>
              <a:off x="0" y="157680"/>
              <a:ext cx="253800" cy="7236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1" name="Group 6"/>
          <p:cNvGrpSpPr/>
          <p:nvPr/>
        </p:nvGrpSpPr>
        <p:grpSpPr>
          <a:xfrm>
            <a:off x="572760" y="66600"/>
            <a:ext cx="14103000" cy="891360"/>
            <a:chOff x="572760" y="66600"/>
            <a:chExt cx="14103000" cy="891360"/>
          </a:xfrm>
        </p:grpSpPr>
        <p:sp>
          <p:nvSpPr>
            <p:cNvPr id="72" name="Freeform 7"/>
            <p:cNvSpPr/>
            <p:nvPr/>
          </p:nvSpPr>
          <p:spPr>
            <a:xfrm>
              <a:off x="572760" y="81000"/>
              <a:ext cx="14103000" cy="876960"/>
            </a:xfrm>
            <a:custGeom>
              <a:avLst/>
              <a:gdLst>
                <a:gd name="textAreaLeft" fmla="*/ 0 w 14103000"/>
                <a:gd name="textAreaRight" fmla="*/ 14103360 w 14103000"/>
                <a:gd name="textAreaTop" fmla="*/ 0 h 876960"/>
                <a:gd name="textAreaBottom" fmla="*/ 877320 h 876960"/>
              </a:gdLst>
              <a:ahLst/>
              <a:cxnLst/>
              <a:rect l="textAreaLeft" t="textAreaTop" r="textAreaRight" b="textAreaBottom"/>
              <a:pathLst>
                <a:path w="18804364" h="1169550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" name="TextBox 8"/>
            <p:cNvSpPr/>
            <p:nvPr/>
          </p:nvSpPr>
          <p:spPr>
            <a:xfrm>
              <a:off x="572760" y="66600"/>
              <a:ext cx="14103000" cy="89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5760"/>
                </a:lnSpc>
              </a:pPr>
              <a:r>
                <a:rPr lang="en-US" sz="4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[Samsung PRISM] Preliminary Discussion</a:t>
              </a:r>
              <a:endParaRPr lang="en-US" sz="4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" name="Group 9"/>
          <p:cNvGrpSpPr/>
          <p:nvPr/>
        </p:nvGrpSpPr>
        <p:grpSpPr>
          <a:xfrm>
            <a:off x="357120" y="157680"/>
            <a:ext cx="112680" cy="723600"/>
            <a:chOff x="357120" y="157680"/>
            <a:chExt cx="112680" cy="723600"/>
          </a:xfrm>
        </p:grpSpPr>
        <p:sp>
          <p:nvSpPr>
            <p:cNvPr id="75" name="Freeform 10"/>
            <p:cNvSpPr/>
            <p:nvPr/>
          </p:nvSpPr>
          <p:spPr>
            <a:xfrm>
              <a:off x="357120" y="157680"/>
              <a:ext cx="112680" cy="72360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" name="TextBox 11"/>
          <p:cNvSpPr/>
          <p:nvPr/>
        </p:nvSpPr>
        <p:spPr>
          <a:xfrm>
            <a:off x="664200" y="4407840"/>
            <a:ext cx="162180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6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Arimo Bold"/>
                <a:ea typeface="Arimo Bold"/>
              </a:rPr>
              <a:t>Team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759600" y="5007960"/>
            <a:ext cx="16155360" cy="3853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488520" lvl="1" indent="-244440" defTabSz="914400">
              <a:lnSpc>
                <a:spcPts val="324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800" b="0" strike="noStrike" spc="-1" dirty="0">
                <a:solidFill>
                  <a:srgbClr val="0E4094"/>
                </a:solidFill>
                <a:latin typeface="arial"/>
                <a:ea typeface="arial"/>
              </a:rPr>
              <a:t>College Professor(s): 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1065960" lvl="2" indent="-355320" defTabSz="914400">
              <a:lnSpc>
                <a:spcPts val="252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400" b="0" i="1" strike="noStrike" spc="-1" dirty="0">
                <a:solidFill>
                  <a:srgbClr val="0E4094"/>
                </a:solidFill>
                <a:latin typeface="Arial" panose="020B0604020202020204" pitchFamily="34" charset="0"/>
                <a:ea typeface="Arimo Italics"/>
                <a:cs typeface="Arial" panose="020B0604020202020204" pitchFamily="34" charset="0"/>
              </a:rPr>
              <a:t>Dr. Suma K. V. - </a:t>
            </a:r>
            <a:r>
              <a:rPr lang="en-US" sz="2400" b="0" u="sng" strike="noStrike" spc="-1" dirty="0">
                <a:solidFill>
                  <a:srgbClr val="0000FF"/>
                </a:solidFill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hlinkClick r:id="rId2"/>
              </a:rPr>
              <a:t>sumakv@msrit.edu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65960" lvl="2" indent="-355320" defTabSz="914400">
              <a:lnSpc>
                <a:spcPts val="252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400" b="0" i="1" strike="noStrike" spc="-1" dirty="0">
                <a:solidFill>
                  <a:srgbClr val="0E4094"/>
                </a:solidFill>
                <a:latin typeface="Arial" panose="020B0604020202020204" pitchFamily="34" charset="0"/>
                <a:ea typeface="Arimo Italics"/>
                <a:cs typeface="Arial" panose="020B0604020202020204" pitchFamily="34" charset="0"/>
              </a:rPr>
              <a:t>Veena G S – veenags@msrit.edu</a:t>
            </a:r>
            <a:endParaRPr lang="en-US" sz="24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8520" lvl="1" indent="-244440" defTabSz="914400">
              <a:lnSpc>
                <a:spcPts val="324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800" b="0" strike="noStrike" spc="-1" dirty="0">
                <a:solidFill>
                  <a:srgbClr val="0E4094"/>
                </a:solidFill>
                <a:latin typeface="arial"/>
                <a:ea typeface="arial"/>
              </a:rPr>
              <a:t>Students: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1065960" lvl="2" indent="-355320" defTabSz="914400">
              <a:lnSpc>
                <a:spcPts val="252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400" b="0" strike="noStrike" spc="-1" dirty="0">
                <a:solidFill>
                  <a:srgbClr val="0E4094"/>
                </a:solidFill>
                <a:latin typeface="arial"/>
                <a:ea typeface="arial"/>
              </a:rPr>
              <a:t>Ashwith Rai N – 1ms23ec029@msrit.edu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1065960" lvl="2" indent="-355320" defTabSz="914400">
              <a:lnSpc>
                <a:spcPts val="252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400" b="0" strike="noStrike" spc="-1" dirty="0">
                <a:solidFill>
                  <a:srgbClr val="0E4094"/>
                </a:solidFill>
                <a:latin typeface="arial"/>
                <a:ea typeface="arial"/>
              </a:rPr>
              <a:t>Aditya Gangwani – 1ms23ec007@msrit.edu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1065960" lvl="2" indent="-355320" defTabSz="914400">
              <a:lnSpc>
                <a:spcPts val="252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400" b="0" strike="noStrike" spc="-1" dirty="0">
                <a:solidFill>
                  <a:srgbClr val="0E4094"/>
                </a:solidFill>
                <a:latin typeface="arial"/>
                <a:ea typeface="arial"/>
              </a:rPr>
              <a:t>Anaghashree – 1ms23ec014@msrit.edu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1065960" lvl="2" indent="-355320">
              <a:lnSpc>
                <a:spcPts val="252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400" b="0" strike="noStrike" spc="-1" dirty="0">
                <a:solidFill>
                  <a:srgbClr val="0E4094"/>
                </a:solidFill>
                <a:latin typeface="arial"/>
                <a:ea typeface="arial"/>
              </a:rPr>
              <a:t>Bhargavi N Sarode – </a:t>
            </a:r>
            <a:r>
              <a:rPr lang="en-US" sz="2400" u="sng" spc="-1" dirty="0">
                <a:solidFill>
                  <a:srgbClr val="0000FF"/>
                </a:solidFill>
                <a:latin typeface="arial"/>
                <a:ea typeface="arial"/>
                <a:hlinkClick r:id="rId3"/>
              </a:rPr>
              <a:t>1ms25scn013-t@msrit.edu</a:t>
            </a:r>
            <a:endParaRPr lang="en-US" sz="2400" u="sng" spc="-1" dirty="0">
              <a:solidFill>
                <a:srgbClr val="0000FF"/>
              </a:solidFill>
              <a:latin typeface="arial"/>
              <a:ea typeface="arial"/>
            </a:endParaRPr>
          </a:p>
          <a:p>
            <a:pPr marL="1065960" lvl="2" indent="-355320">
              <a:lnSpc>
                <a:spcPts val="252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400" b="0" strike="noStrike" spc="-1" dirty="0">
                <a:solidFill>
                  <a:srgbClr val="0E4094"/>
                </a:solidFill>
                <a:latin typeface="arial"/>
                <a:ea typeface="arial"/>
              </a:rPr>
              <a:t>Srinidhi R – </a:t>
            </a:r>
            <a:r>
              <a:rPr lang="en-US" sz="2400" spc="-1" dirty="0">
                <a:solidFill>
                  <a:srgbClr val="0E4094"/>
                </a:solidFill>
                <a:latin typeface="arial"/>
                <a:ea typeface="arial"/>
              </a:rPr>
              <a:t>1ms25scn019-t@msrit.edu </a:t>
            </a:r>
            <a:endParaRPr lang="en-US" sz="2400" b="0" strike="noStrike" spc="-1" dirty="0">
              <a:solidFill>
                <a:srgbClr val="0E4094"/>
              </a:solidFill>
              <a:latin typeface="arial"/>
              <a:ea typeface="arial"/>
            </a:endParaRPr>
          </a:p>
          <a:p>
            <a:pPr marL="488520" lvl="1" indent="-244440" defTabSz="914400">
              <a:lnSpc>
                <a:spcPts val="3240"/>
              </a:lnSpc>
              <a:buClr>
                <a:srgbClr val="0E4094"/>
              </a:buClr>
              <a:buFont typeface="OpenSymbol"/>
              <a:buAutoNum type="arabicPeriod"/>
            </a:pPr>
            <a:r>
              <a:rPr lang="en-US" sz="2800" b="0" strike="noStrike" spc="-1" dirty="0">
                <a:solidFill>
                  <a:srgbClr val="0E4094"/>
                </a:solidFill>
                <a:latin typeface="arial"/>
                <a:ea typeface="arial"/>
              </a:rPr>
              <a:t>Department:</a:t>
            </a:r>
            <a:r>
              <a:rPr lang="en-US" sz="2800" spc="-1" dirty="0">
                <a:solidFill>
                  <a:srgbClr val="0E4094"/>
                </a:solidFill>
                <a:latin typeface="arial"/>
                <a:ea typeface="arial"/>
              </a:rPr>
              <a:t> </a:t>
            </a:r>
            <a:r>
              <a:rPr lang="en-US" sz="2400" spc="-1" dirty="0">
                <a:solidFill>
                  <a:srgbClr val="0E4094"/>
                </a:solidFill>
                <a:latin typeface="arial"/>
                <a:ea typeface="arial"/>
              </a:rPr>
              <a:t>Electronics and Communication Engineering</a:t>
            </a:r>
          </a:p>
          <a:p>
            <a:pPr marL="244080" lvl="1" defTabSz="914400">
              <a:lnSpc>
                <a:spcPts val="3240"/>
              </a:lnSpc>
              <a:buClr>
                <a:srgbClr val="0E4094"/>
              </a:buClr>
            </a:pPr>
            <a:r>
              <a:rPr lang="en-US" sz="2400" spc="-1" dirty="0">
                <a:solidFill>
                  <a:srgbClr val="0E4094"/>
                </a:solidFill>
                <a:latin typeface="arial"/>
              </a:rPr>
              <a:t>                            Computer Network Engineering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8" name="Group 13"/>
          <p:cNvGrpSpPr/>
          <p:nvPr/>
        </p:nvGrpSpPr>
        <p:grpSpPr>
          <a:xfrm>
            <a:off x="15006960" y="9641520"/>
            <a:ext cx="3280680" cy="614160"/>
            <a:chOff x="15006960" y="9641520"/>
            <a:chExt cx="3280680" cy="614160"/>
          </a:xfrm>
        </p:grpSpPr>
        <p:sp>
          <p:nvSpPr>
            <p:cNvPr id="79" name="Freeform 14"/>
            <p:cNvSpPr/>
            <p:nvPr/>
          </p:nvSpPr>
          <p:spPr>
            <a:xfrm>
              <a:off x="15006960" y="9655920"/>
              <a:ext cx="3280680" cy="599760"/>
            </a:xfrm>
            <a:custGeom>
              <a:avLst/>
              <a:gdLst>
                <a:gd name="textAreaLeft" fmla="*/ 0 w 3280680"/>
                <a:gd name="textAreaRight" fmla="*/ 3281040 w 3280680"/>
                <a:gd name="textAreaTop" fmla="*/ 0 h 599760"/>
                <a:gd name="textAreaBottom" fmla="*/ 600120 h 599760"/>
              </a:gdLst>
              <a:ahLst/>
              <a:cxnLst/>
              <a:rect l="textAreaLeft" t="textAreaTop" r="textAreaRight" b="textAreaBottom"/>
              <a:pathLst>
                <a:path w="4374774" h="800220">
                  <a:moveTo>
                    <a:pt x="0" y="0"/>
                  </a:moveTo>
                  <a:lnTo>
                    <a:pt x="4374774" y="0"/>
                  </a:lnTo>
                  <a:lnTo>
                    <a:pt x="4374774" y="800220"/>
                  </a:lnTo>
                  <a:lnTo>
                    <a:pt x="0" y="80022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" name="TextBox 15"/>
            <p:cNvSpPr/>
            <p:nvPr/>
          </p:nvSpPr>
          <p:spPr>
            <a:xfrm>
              <a:off x="15006960" y="9641520"/>
              <a:ext cx="3280680" cy="61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3600"/>
                </a:lnSpc>
              </a:pPr>
              <a:r>
                <a:rPr lang="en-US" sz="30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Date: 11 Dec 2025</a:t>
              </a:r>
              <a:endParaRPr lang="en-US" sz="3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" name="Group 16"/>
          <p:cNvGrpSpPr/>
          <p:nvPr/>
        </p:nvGrpSpPr>
        <p:grpSpPr>
          <a:xfrm>
            <a:off x="16413120" y="157680"/>
            <a:ext cx="1874520" cy="712080"/>
            <a:chOff x="16413120" y="157680"/>
            <a:chExt cx="1874520" cy="712080"/>
          </a:xfrm>
        </p:grpSpPr>
        <p:sp>
          <p:nvSpPr>
            <p:cNvPr id="82" name="Freeform 17"/>
            <p:cNvSpPr/>
            <p:nvPr/>
          </p:nvSpPr>
          <p:spPr>
            <a:xfrm>
              <a:off x="16413120" y="157680"/>
              <a:ext cx="1874520" cy="712080"/>
            </a:xfrm>
            <a:custGeom>
              <a:avLst/>
              <a:gdLst>
                <a:gd name="textAreaLeft" fmla="*/ 0 w 1874520"/>
                <a:gd name="textAreaRight" fmla="*/ 1874880 w 1874520"/>
                <a:gd name="textAreaTop" fmla="*/ 0 h 712080"/>
                <a:gd name="textAreaBottom" fmla="*/ 712440 h 712080"/>
              </a:gdLst>
              <a:ahLst/>
              <a:cxnLst/>
              <a:rect l="textAreaLeft" t="textAreaTop" r="textAreaRight" b="textAreaBottom"/>
              <a:pathLst>
                <a:path w="2499868" h="949833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" name="Group 18"/>
          <p:cNvGrpSpPr/>
          <p:nvPr/>
        </p:nvGrpSpPr>
        <p:grpSpPr>
          <a:xfrm>
            <a:off x="2563593" y="2062080"/>
            <a:ext cx="13160813" cy="1082880"/>
            <a:chOff x="759601" y="2763360"/>
            <a:chExt cx="16771162" cy="1082880"/>
          </a:xfrm>
        </p:grpSpPr>
        <p:sp>
          <p:nvSpPr>
            <p:cNvPr id="84" name="Freeform 19"/>
            <p:cNvSpPr/>
            <p:nvPr/>
          </p:nvSpPr>
          <p:spPr>
            <a:xfrm>
              <a:off x="2092320" y="2784600"/>
              <a:ext cx="14103000" cy="1061640"/>
            </a:xfrm>
            <a:custGeom>
              <a:avLst/>
              <a:gdLst>
                <a:gd name="textAreaLeft" fmla="*/ 0 w 14103000"/>
                <a:gd name="textAreaRight" fmla="*/ 14103360 w 14103000"/>
                <a:gd name="textAreaTop" fmla="*/ 0 h 1061640"/>
                <a:gd name="textAreaBottom" fmla="*/ 1062000 h 1061640"/>
              </a:gdLst>
              <a:ahLst/>
              <a:cxnLst/>
              <a:rect l="textAreaLeft" t="textAreaTop" r="textAreaRight" b="textAreaBottom"/>
              <a:pathLst>
                <a:path w="18804364" h="1415772">
                  <a:moveTo>
                    <a:pt x="0" y="0"/>
                  </a:moveTo>
                  <a:lnTo>
                    <a:pt x="18804364" y="0"/>
                  </a:lnTo>
                  <a:lnTo>
                    <a:pt x="18804364" y="1415772"/>
                  </a:lnTo>
                  <a:lnTo>
                    <a:pt x="0" y="141577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" name="TextBox 20"/>
            <p:cNvSpPr/>
            <p:nvPr/>
          </p:nvSpPr>
          <p:spPr>
            <a:xfrm>
              <a:off x="759601" y="2763360"/>
              <a:ext cx="16771162" cy="10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>
                <a:lnSpc>
                  <a:spcPts val="7200"/>
                </a:lnSpc>
              </a:pPr>
              <a:r>
                <a:rPr lang="en-US" sz="6000" b="1" spc="-1" dirty="0">
                  <a:solidFill>
                    <a:srgbClr val="000000"/>
                  </a:solidFill>
                  <a:latin typeface="Arimo Bold"/>
                  <a:ea typeface="Arimo Bold"/>
                </a:rPr>
                <a:t>Troubleshoot Helper: Revolutionizing Device Diagnostics</a:t>
              </a:r>
              <a:endParaRPr lang="en-US" sz="6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2"/>
          <p:cNvGrpSpPr/>
          <p:nvPr/>
        </p:nvGrpSpPr>
        <p:grpSpPr>
          <a:xfrm>
            <a:off x="2520" y="943920"/>
            <a:ext cx="7515720" cy="9342360"/>
            <a:chOff x="2520" y="943920"/>
            <a:chExt cx="7515720" cy="9342360"/>
          </a:xfrm>
        </p:grpSpPr>
        <p:sp>
          <p:nvSpPr>
            <p:cNvPr id="87" name="Freeform 3"/>
            <p:cNvSpPr/>
            <p:nvPr/>
          </p:nvSpPr>
          <p:spPr>
            <a:xfrm>
              <a:off x="2520" y="943920"/>
              <a:ext cx="7515720" cy="9342360"/>
            </a:xfrm>
            <a:custGeom>
              <a:avLst/>
              <a:gdLst>
                <a:gd name="textAreaLeft" fmla="*/ 0 w 7515720"/>
                <a:gd name="textAreaRight" fmla="*/ 7516080 w 7515720"/>
                <a:gd name="textAreaTop" fmla="*/ 0 h 9342360"/>
                <a:gd name="textAreaBottom" fmla="*/ 9342720 h 9342360"/>
              </a:gdLst>
              <a:ahLst/>
              <a:cxnLst/>
              <a:rect l="textAreaLeft" t="textAreaTop" r="textAreaRight" b="textAreaBottom"/>
              <a:pathLst>
                <a:path w="10021316" h="12457176">
                  <a:moveTo>
                    <a:pt x="0" y="0"/>
                  </a:moveTo>
                  <a:lnTo>
                    <a:pt x="10021316" y="0"/>
                  </a:lnTo>
                  <a:lnTo>
                    <a:pt x="10021316" y="12457176"/>
                  </a:lnTo>
                  <a:lnTo>
                    <a:pt x="0" y="12457176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8" name="TextBox 4"/>
          <p:cNvSpPr/>
          <p:nvPr/>
        </p:nvSpPr>
        <p:spPr>
          <a:xfrm>
            <a:off x="561240" y="1212480"/>
            <a:ext cx="6495480" cy="510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520"/>
              </a:lnSpc>
            </a:pPr>
            <a:r>
              <a:rPr lang="en-US" sz="2100" b="1" strike="noStrike" spc="-1">
                <a:solidFill>
                  <a:srgbClr val="00B0F0"/>
                </a:solidFill>
                <a:latin typeface="Arimo Bold"/>
                <a:ea typeface="Arimo Bold"/>
              </a:rPr>
              <a:t>Problem Statement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981"/>
              </a:lnSpc>
            </a:pPr>
            <a:r>
              <a:rPr lang="en-US" sz="1650" b="0" u="sng" strike="noStrike" spc="-1">
                <a:solidFill>
                  <a:srgbClr val="FFFFFF"/>
                </a:solidFill>
                <a:uFillTx/>
                <a:latin typeface="arial"/>
                <a:ea typeface="arial"/>
              </a:rPr>
              <a:t>The Challenges of Device Troubleshooting: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FFFFFF"/>
              </a:buClr>
              <a:buFont typeface="Arial"/>
              <a:buChar char="•"/>
            </a:pPr>
            <a:r>
              <a:rPr lang="en-US" sz="1650" b="0" strike="noStrike" spc="-1">
                <a:solidFill>
                  <a:srgbClr val="FFFFFF"/>
                </a:solidFill>
                <a:latin typeface="arial"/>
                <a:ea typeface="arial"/>
              </a:rPr>
              <a:t>Difficulty in interpreting LED patterns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984240" lvl="2" indent="-327960" defTabSz="914400">
              <a:lnSpc>
                <a:spcPts val="1981"/>
              </a:lnSpc>
              <a:buClr>
                <a:srgbClr val="FFFFFF"/>
              </a:buClr>
              <a:buFont typeface="Arial"/>
              <a:buChar char="⚬"/>
            </a:pPr>
            <a:r>
              <a:rPr lang="en-US" sz="1650" b="0" strike="noStrike" spc="-1">
                <a:solidFill>
                  <a:srgbClr val="FFFFFF"/>
                </a:solidFill>
                <a:latin typeface="arial"/>
                <a:ea typeface="arial"/>
              </a:rPr>
              <a:t>Also, LED patterns varies in same class of devices sometimes. Ex: "Normal Working" led indicator is Solid Green in Hub V3 while Solid Blue in Hub V4.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FFFFFF"/>
              </a:buClr>
              <a:buFont typeface="Arial"/>
              <a:buChar char="•"/>
            </a:pPr>
            <a:r>
              <a:rPr lang="en-US" sz="1650" b="0" strike="noStrike" spc="-1">
                <a:solidFill>
                  <a:srgbClr val="FFFFFF"/>
                </a:solidFill>
                <a:latin typeface="arial"/>
                <a:ea typeface="arial"/>
              </a:rPr>
              <a:t>Difficulty in understanding the error codes of different DA devices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FFFFFF"/>
              </a:buClr>
              <a:buFont typeface="Arial"/>
              <a:buChar char="•"/>
            </a:pPr>
            <a:r>
              <a:rPr lang="en-US" sz="1650" b="0" strike="noStrike" spc="-1">
                <a:solidFill>
                  <a:srgbClr val="FFFFFF"/>
                </a:solidFill>
                <a:latin typeface="arial"/>
                <a:ea typeface="arial"/>
              </a:rPr>
              <a:t>Time-consuming search for solutions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indent="-149400" defTabSz="914400">
              <a:lnSpc>
                <a:spcPts val="1981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98440" indent="-149400" defTabSz="914400">
              <a:lnSpc>
                <a:spcPts val="1981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FFFFFF"/>
                </a:solidFill>
                <a:latin typeface="Arimo Bold"/>
                <a:ea typeface="Arimo Bold"/>
              </a:rPr>
              <a:t>The Troubleshoot Helper is an AI-powered tool designed to assist users in diagnosing and resolving device issues.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indent="-149400" defTabSz="914400">
              <a:lnSpc>
                <a:spcPts val="1981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98440" indent="-149400" defTabSz="914400">
              <a:lnSpc>
                <a:spcPts val="1981"/>
              </a:lnSpc>
              <a:tabLst>
                <a:tab pos="0" algn="l"/>
              </a:tabLst>
            </a:pPr>
            <a:r>
              <a:rPr lang="en-US" sz="1650" b="0" u="sng" strike="noStrike" spc="-1">
                <a:solidFill>
                  <a:srgbClr val="FFFFFF"/>
                </a:solidFill>
                <a:uFillTx/>
                <a:latin typeface="arial"/>
                <a:ea typeface="arial"/>
              </a:rPr>
              <a:t>Solution Overview: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50" b="0" strike="noStrike" spc="-1">
                <a:solidFill>
                  <a:srgbClr val="FFFFFF"/>
                </a:solidFill>
                <a:latin typeface="arial"/>
                <a:ea typeface="arial"/>
              </a:rPr>
              <a:t>Capture video of LED indicators / Snapshot of error code in DA device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50" b="0" strike="noStrike" spc="-1">
                <a:solidFill>
                  <a:srgbClr val="FFFFFF"/>
                </a:solidFill>
                <a:latin typeface="arial"/>
                <a:ea typeface="arial"/>
              </a:rPr>
              <a:t>AI model identifies LED patterns (e.g., "blinking red," "blinking red and green") / OCR AI model is used convert error code image to text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50" b="0" strike="noStrike" spc="-1">
                <a:solidFill>
                  <a:srgbClr val="FFFFFF"/>
                </a:solidFill>
                <a:latin typeface="arial"/>
                <a:ea typeface="arial"/>
              </a:rPr>
              <a:t>Maps patterns to help guide topics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50" b="0" strike="noStrike" spc="-1">
                <a:solidFill>
                  <a:srgbClr val="FFFFFF"/>
                </a:solidFill>
                <a:latin typeface="arial"/>
                <a:ea typeface="arial"/>
              </a:rPr>
              <a:t>Provides detailed status and troubleshooting steps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2905560" y="8618760"/>
            <a:ext cx="1708920" cy="68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40"/>
              </a:lnSpc>
            </a:pPr>
            <a:r>
              <a:rPr lang="en-US" sz="1200" b="0" strike="noStrike" spc="-1">
                <a:solidFill>
                  <a:srgbClr val="FFFFFF"/>
                </a:solidFill>
                <a:latin typeface="arial"/>
                <a:ea typeface="arial"/>
              </a:rPr>
              <a:t>Sujay Srinivasa Murthy, Senior Chief Engineer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261"/>
              </a:lnSpc>
            </a:pPr>
            <a:r>
              <a:rPr lang="en-US" sz="1050" b="0" u="sng" strike="noStrike" spc="-1">
                <a:solidFill>
                  <a:srgbClr val="0000FF"/>
                </a:solidFill>
                <a:uFillTx/>
                <a:latin typeface="arial"/>
                <a:ea typeface="arial"/>
                <a:hlinkClick r:id="rId2"/>
              </a:rPr>
              <a:t>sujay.s@samsung.com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261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arial"/>
                <a:ea typeface="arial"/>
              </a:rPr>
              <a:t>+91-9731560098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8013960" y="1937520"/>
            <a:ext cx="9785160" cy="437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520"/>
              </a:lnSpc>
            </a:pPr>
            <a:r>
              <a:rPr lang="en-US" sz="2100" b="1" strike="noStrike" spc="-1">
                <a:solidFill>
                  <a:srgbClr val="70AD47"/>
                </a:solidFill>
                <a:latin typeface="Arimo Bold"/>
                <a:ea typeface="Arimo Bold"/>
              </a:rPr>
              <a:t>Expectations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404040"/>
              </a:buClr>
              <a:buFont typeface="Arial"/>
              <a:buChar char="•"/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Data Collection: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970920" lvl="2" indent="-323640" defTabSz="914400">
              <a:lnSpc>
                <a:spcPts val="1888"/>
              </a:lnSpc>
              <a:buClr>
                <a:srgbClr val="404040"/>
              </a:buClr>
              <a:buFont typeface="Arial"/>
              <a:buChar char="⚬"/>
            </a:pPr>
            <a:r>
              <a:rPr lang="en-US" sz="1580" b="0" strike="noStrike" spc="-1">
                <a:solidFill>
                  <a:srgbClr val="404040"/>
                </a:solidFill>
                <a:latin typeface="arial"/>
                <a:ea typeface="arial"/>
              </a:rPr>
              <a:t>Compile a comprehensive database of LED patterns and their corresponding troubleshooting topics for various devices.</a:t>
            </a:r>
            <a:endParaRPr lang="en-US" sz="1580" b="0" strike="noStrike" spc="-1">
              <a:solidFill>
                <a:srgbClr val="000000"/>
              </a:solidFill>
              <a:latin typeface="Arial"/>
            </a:endParaRPr>
          </a:p>
          <a:p>
            <a:pPr marL="970920" lvl="2" indent="-323640" defTabSz="914400">
              <a:lnSpc>
                <a:spcPts val="1888"/>
              </a:lnSpc>
              <a:buClr>
                <a:srgbClr val="404040"/>
              </a:buClr>
              <a:buFont typeface="Arial"/>
              <a:buChar char="⚬"/>
            </a:pPr>
            <a:r>
              <a:rPr lang="en-US" sz="1580" b="0" strike="noStrike" spc="-1">
                <a:solidFill>
                  <a:srgbClr val="404040"/>
                </a:solidFill>
                <a:latin typeface="arial"/>
                <a:ea typeface="arial"/>
              </a:rPr>
              <a:t>Analyse and pre-process list of error codes from different DA devices and their explanations.</a:t>
            </a:r>
            <a:endParaRPr lang="en-US" sz="158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404040"/>
              </a:buClr>
              <a:buFont typeface="Arial"/>
              <a:buChar char="•"/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Model Development: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984240" lvl="2" indent="-327960" defTabSz="914400">
              <a:lnSpc>
                <a:spcPts val="1981"/>
              </a:lnSpc>
              <a:buClr>
                <a:srgbClr val="404040"/>
              </a:buClr>
              <a:buFont typeface="Arial"/>
              <a:buChar char="⚬"/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Develop and train a machine learning model capable of recognizing LED patterns from video inputs.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984240" lvl="2" indent="-327960" defTabSz="914400">
              <a:lnSpc>
                <a:spcPts val="1981"/>
              </a:lnSpc>
              <a:buClr>
                <a:srgbClr val="404040"/>
              </a:buClr>
              <a:buFont typeface="Arial"/>
              <a:buChar char="⚬"/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Develop and train a OCR ML model to recognize error codes from images.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984240" lvl="2" indent="-327960" defTabSz="914400">
              <a:lnSpc>
                <a:spcPts val="1981"/>
              </a:lnSpc>
              <a:buClr>
                <a:srgbClr val="404040"/>
              </a:buClr>
              <a:buFont typeface="Arial"/>
              <a:buChar char="⚬"/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Model to map the identified patterns / error codes with help guide.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404040"/>
              </a:buClr>
              <a:buFont typeface="Arial"/>
              <a:buChar char="•"/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Testing and Validation: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984240" lvl="2" indent="-327960" defTabSz="914400">
              <a:lnSpc>
                <a:spcPts val="1981"/>
              </a:lnSpc>
              <a:buClr>
                <a:srgbClr val="404040"/>
              </a:buClr>
              <a:buFont typeface="Arial"/>
              <a:buChar char="⚬"/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Conduct extensive testing to validate the model's accuracy and performance across different devices and lighting conditions.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1252800" indent="-417600" defTabSz="914400">
              <a:lnSpc>
                <a:spcPts val="252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70AD47"/>
                </a:solidFill>
                <a:latin typeface="Arimo Bold"/>
                <a:ea typeface="Arimo Bold"/>
              </a:rPr>
              <a:t>Training/ Pre-requisites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Trained in AI/ML model development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298440" lvl="1" indent="-149400" defTabSz="914400">
              <a:lnSpc>
                <a:spcPts val="1981"/>
              </a:lnSpc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Completed/Suggested Courses: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  <a:p>
            <a:pPr marL="984240" lvl="2" indent="-327960" defTabSz="914400">
              <a:lnSpc>
                <a:spcPts val="1981"/>
              </a:lnSpc>
              <a:buClr>
                <a:srgbClr val="404040"/>
              </a:buClr>
              <a:buFont typeface="Arial"/>
              <a:buChar char="⚬"/>
              <a:tabLst>
                <a:tab pos="0" algn="l"/>
              </a:tabLst>
            </a:pPr>
            <a:r>
              <a:rPr lang="en-US" sz="1650" b="0" strike="noStrike" spc="-1">
                <a:solidFill>
                  <a:srgbClr val="404040"/>
                </a:solidFill>
                <a:latin typeface="arial"/>
                <a:ea typeface="arial"/>
              </a:rPr>
              <a:t>AI/ML models related to computer vision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" name="Group 7"/>
          <p:cNvGrpSpPr/>
          <p:nvPr/>
        </p:nvGrpSpPr>
        <p:grpSpPr>
          <a:xfrm>
            <a:off x="469800" y="203400"/>
            <a:ext cx="14919480" cy="614160"/>
            <a:chOff x="469800" y="203400"/>
            <a:chExt cx="14919480" cy="614160"/>
          </a:xfrm>
        </p:grpSpPr>
        <p:sp>
          <p:nvSpPr>
            <p:cNvPr id="92" name="Freeform 8"/>
            <p:cNvSpPr/>
            <p:nvPr/>
          </p:nvSpPr>
          <p:spPr>
            <a:xfrm>
              <a:off x="469800" y="217800"/>
              <a:ext cx="14919480" cy="599760"/>
            </a:xfrm>
            <a:custGeom>
              <a:avLst/>
              <a:gdLst>
                <a:gd name="textAreaLeft" fmla="*/ 0 w 14919480"/>
                <a:gd name="textAreaRight" fmla="*/ 14919840 w 14919480"/>
                <a:gd name="textAreaTop" fmla="*/ 0 h 599760"/>
                <a:gd name="textAreaBottom" fmla="*/ 600120 h 599760"/>
              </a:gdLst>
              <a:ahLst/>
              <a:cxnLst/>
              <a:rect l="textAreaLeft" t="textAreaTop" r="textAreaRight" b="textAreaBottom"/>
              <a:pathLst>
                <a:path w="19892941" h="800220">
                  <a:moveTo>
                    <a:pt x="0" y="0"/>
                  </a:moveTo>
                  <a:lnTo>
                    <a:pt x="19892941" y="0"/>
                  </a:lnTo>
                  <a:lnTo>
                    <a:pt x="19892941" y="800220"/>
                  </a:lnTo>
                  <a:lnTo>
                    <a:pt x="0" y="80022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" name="TextBox 9"/>
            <p:cNvSpPr/>
            <p:nvPr/>
          </p:nvSpPr>
          <p:spPr>
            <a:xfrm>
              <a:off x="469800" y="203400"/>
              <a:ext cx="14919480" cy="61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3600"/>
                </a:lnSpc>
              </a:pPr>
              <a:r>
                <a:rPr lang="en-US" sz="3000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Troubleshoot Helper</a:t>
              </a:r>
              <a:endParaRPr lang="en-US" sz="3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" name="Group 10"/>
          <p:cNvGrpSpPr/>
          <p:nvPr/>
        </p:nvGrpSpPr>
        <p:grpSpPr>
          <a:xfrm>
            <a:off x="16421400" y="50400"/>
            <a:ext cx="1673280" cy="644400"/>
            <a:chOff x="16421400" y="50400"/>
            <a:chExt cx="1673280" cy="644400"/>
          </a:xfrm>
        </p:grpSpPr>
        <p:sp>
          <p:nvSpPr>
            <p:cNvPr id="95" name="Freeform 11"/>
            <p:cNvSpPr/>
            <p:nvPr/>
          </p:nvSpPr>
          <p:spPr>
            <a:xfrm>
              <a:off x="16421400" y="50400"/>
              <a:ext cx="1673280" cy="644400"/>
            </a:xfrm>
            <a:custGeom>
              <a:avLst/>
              <a:gdLst>
                <a:gd name="textAreaLeft" fmla="*/ 0 w 1673280"/>
                <a:gd name="textAreaRight" fmla="*/ 1673640 w 1673280"/>
                <a:gd name="textAreaTop" fmla="*/ 0 h 644400"/>
                <a:gd name="textAreaBottom" fmla="*/ 644760 h 644400"/>
              </a:gdLst>
              <a:ahLst/>
              <a:cxnLst/>
              <a:rect l="textAreaLeft" t="textAreaTop" r="textAreaRight" b="textAreaBottom"/>
              <a:pathLst>
                <a:path w="2231517" h="859790">
                  <a:moveTo>
                    <a:pt x="0" y="0"/>
                  </a:moveTo>
                  <a:lnTo>
                    <a:pt x="2231517" y="0"/>
                  </a:lnTo>
                  <a:lnTo>
                    <a:pt x="2231517" y="859790"/>
                  </a:lnTo>
                  <a:lnTo>
                    <a:pt x="0" y="85979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6" name="Group 12"/>
          <p:cNvGrpSpPr/>
          <p:nvPr/>
        </p:nvGrpSpPr>
        <p:grpSpPr>
          <a:xfrm>
            <a:off x="0" y="157680"/>
            <a:ext cx="253800" cy="723600"/>
            <a:chOff x="0" y="157680"/>
            <a:chExt cx="253800" cy="723600"/>
          </a:xfrm>
        </p:grpSpPr>
        <p:sp>
          <p:nvSpPr>
            <p:cNvPr id="97" name="Freeform 13"/>
            <p:cNvSpPr/>
            <p:nvPr/>
          </p:nvSpPr>
          <p:spPr>
            <a:xfrm>
              <a:off x="0" y="157680"/>
              <a:ext cx="253800" cy="7236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8" name="Group 14"/>
          <p:cNvGrpSpPr/>
          <p:nvPr/>
        </p:nvGrpSpPr>
        <p:grpSpPr>
          <a:xfrm>
            <a:off x="357120" y="157680"/>
            <a:ext cx="112680" cy="723600"/>
            <a:chOff x="357120" y="157680"/>
            <a:chExt cx="112680" cy="723600"/>
          </a:xfrm>
        </p:grpSpPr>
        <p:sp>
          <p:nvSpPr>
            <p:cNvPr id="99" name="Freeform 15"/>
            <p:cNvSpPr/>
            <p:nvPr/>
          </p:nvSpPr>
          <p:spPr>
            <a:xfrm>
              <a:off x="357120" y="157680"/>
              <a:ext cx="112680" cy="72360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0" name="TextBox 16"/>
          <p:cNvSpPr/>
          <p:nvPr/>
        </p:nvSpPr>
        <p:spPr>
          <a:xfrm>
            <a:off x="12164760" y="954720"/>
            <a:ext cx="4544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88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Arimo Bold"/>
                <a:ea typeface="Arimo Bold"/>
              </a:rPr>
              <a:t>Work-let expected duration – 6 months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1" name="Group 17"/>
          <p:cNvGrpSpPr/>
          <p:nvPr/>
        </p:nvGrpSpPr>
        <p:grpSpPr>
          <a:xfrm>
            <a:off x="16966080" y="920160"/>
            <a:ext cx="934200" cy="458280"/>
            <a:chOff x="16966080" y="920160"/>
            <a:chExt cx="934200" cy="458280"/>
          </a:xfrm>
        </p:grpSpPr>
        <p:sp>
          <p:nvSpPr>
            <p:cNvPr id="102" name="Freeform 18"/>
            <p:cNvSpPr/>
            <p:nvPr/>
          </p:nvSpPr>
          <p:spPr>
            <a:xfrm>
              <a:off x="16975800" y="943920"/>
              <a:ext cx="914400" cy="4248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424800"/>
                <a:gd name="textAreaBottom" fmla="*/ 425160 h 424800"/>
              </a:gdLst>
              <a:ahLst/>
              <a:cxnLst/>
              <a:rect l="textAreaLeft" t="textAreaTop" r="textAreaRight" b="textAreaBottom"/>
              <a:pathLst>
                <a:path w="1219454" h="566801">
                  <a:moveTo>
                    <a:pt x="0" y="283464"/>
                  </a:moveTo>
                  <a:cubicBezTo>
                    <a:pt x="0" y="126873"/>
                    <a:pt x="272923" y="0"/>
                    <a:pt x="609727" y="0"/>
                  </a:cubicBezTo>
                  <a:cubicBezTo>
                    <a:pt x="946531" y="0"/>
                    <a:pt x="1219454" y="126873"/>
                    <a:pt x="1219454" y="283464"/>
                  </a:cubicBezTo>
                  <a:cubicBezTo>
                    <a:pt x="1219454" y="440055"/>
                    <a:pt x="946531" y="566801"/>
                    <a:pt x="609727" y="566801"/>
                  </a:cubicBezTo>
                  <a:cubicBezTo>
                    <a:pt x="272923" y="566801"/>
                    <a:pt x="0" y="439928"/>
                    <a:pt x="0" y="283464"/>
                  </a:cubicBezTo>
                  <a:close/>
                </a:path>
              </a:pathLst>
            </a:custGeom>
            <a:solidFill>
              <a:srgbClr val="5B9BD5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" name="Freeform 19"/>
            <p:cNvSpPr/>
            <p:nvPr/>
          </p:nvSpPr>
          <p:spPr>
            <a:xfrm>
              <a:off x="16966080" y="934200"/>
              <a:ext cx="933120" cy="443880"/>
            </a:xfrm>
            <a:custGeom>
              <a:avLst/>
              <a:gdLst>
                <a:gd name="textAreaLeft" fmla="*/ 0 w 933120"/>
                <a:gd name="textAreaRight" fmla="*/ 933480 w 933120"/>
                <a:gd name="textAreaTop" fmla="*/ 0 h 443880"/>
                <a:gd name="textAreaBottom" fmla="*/ 444240 h 443880"/>
              </a:gdLst>
              <a:ahLst/>
              <a:cxnLst/>
              <a:rect l="textAreaLeft" t="textAreaTop" r="textAreaRight" b="textAreaBottom"/>
              <a:pathLst>
                <a:path w="1244854" h="592328">
                  <a:moveTo>
                    <a:pt x="0" y="296164"/>
                  </a:moveTo>
                  <a:cubicBezTo>
                    <a:pt x="0" y="125857"/>
                    <a:pt x="288290" y="0"/>
                    <a:pt x="622427" y="0"/>
                  </a:cubicBezTo>
                  <a:cubicBezTo>
                    <a:pt x="956564" y="0"/>
                    <a:pt x="1244854" y="125857"/>
                    <a:pt x="1244854" y="296164"/>
                  </a:cubicBezTo>
                  <a:lnTo>
                    <a:pt x="1232154" y="296164"/>
                  </a:lnTo>
                  <a:lnTo>
                    <a:pt x="1244854" y="296164"/>
                  </a:lnTo>
                  <a:cubicBezTo>
                    <a:pt x="1244854" y="466471"/>
                    <a:pt x="956564" y="592328"/>
                    <a:pt x="622427" y="592328"/>
                  </a:cubicBezTo>
                  <a:lnTo>
                    <a:pt x="622427" y="579628"/>
                  </a:lnTo>
                  <a:lnTo>
                    <a:pt x="622427" y="592328"/>
                  </a:lnTo>
                  <a:cubicBezTo>
                    <a:pt x="288290" y="592201"/>
                    <a:pt x="0" y="466471"/>
                    <a:pt x="0" y="296164"/>
                  </a:cubicBezTo>
                  <a:lnTo>
                    <a:pt x="12700" y="296164"/>
                  </a:lnTo>
                  <a:lnTo>
                    <a:pt x="25400" y="296164"/>
                  </a:lnTo>
                  <a:lnTo>
                    <a:pt x="12700" y="296164"/>
                  </a:lnTo>
                  <a:lnTo>
                    <a:pt x="0" y="296164"/>
                  </a:lnTo>
                  <a:moveTo>
                    <a:pt x="25400" y="296164"/>
                  </a:moveTo>
                  <a:cubicBezTo>
                    <a:pt x="25400" y="303149"/>
                    <a:pt x="19685" y="308864"/>
                    <a:pt x="12700" y="308864"/>
                  </a:cubicBezTo>
                  <a:cubicBezTo>
                    <a:pt x="5715" y="308864"/>
                    <a:pt x="0" y="303149"/>
                    <a:pt x="0" y="296164"/>
                  </a:cubicBezTo>
                  <a:cubicBezTo>
                    <a:pt x="0" y="289179"/>
                    <a:pt x="5715" y="283464"/>
                    <a:pt x="12700" y="283464"/>
                  </a:cubicBezTo>
                  <a:cubicBezTo>
                    <a:pt x="19685" y="283464"/>
                    <a:pt x="25400" y="289179"/>
                    <a:pt x="25400" y="296164"/>
                  </a:cubicBezTo>
                  <a:cubicBezTo>
                    <a:pt x="25400" y="438912"/>
                    <a:pt x="283083" y="566801"/>
                    <a:pt x="622427" y="566801"/>
                  </a:cubicBezTo>
                  <a:cubicBezTo>
                    <a:pt x="961771" y="566801"/>
                    <a:pt x="1219454" y="438912"/>
                    <a:pt x="1219454" y="296164"/>
                  </a:cubicBezTo>
                  <a:cubicBezTo>
                    <a:pt x="1219454" y="153416"/>
                    <a:pt x="961771" y="25400"/>
                    <a:pt x="622427" y="25400"/>
                  </a:cubicBezTo>
                  <a:lnTo>
                    <a:pt x="622427" y="12700"/>
                  </a:lnTo>
                  <a:lnTo>
                    <a:pt x="622427" y="25400"/>
                  </a:lnTo>
                  <a:cubicBezTo>
                    <a:pt x="283083" y="25400"/>
                    <a:pt x="25400" y="153416"/>
                    <a:pt x="25400" y="296164"/>
                  </a:cubicBezTo>
                  <a:close/>
                </a:path>
              </a:pathLst>
            </a:custGeom>
            <a:solidFill>
              <a:srgbClr val="41719C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" name="TextBox 20"/>
            <p:cNvSpPr/>
            <p:nvPr/>
          </p:nvSpPr>
          <p:spPr>
            <a:xfrm>
              <a:off x="16966080" y="920160"/>
              <a:ext cx="934200" cy="45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160"/>
                </a:lnSpc>
              </a:pPr>
              <a:r>
                <a:rPr lang="en-US" sz="1800" b="0" strike="noStrike" spc="-1">
                  <a:solidFill>
                    <a:srgbClr val="FFFFFF"/>
                  </a:solidFill>
                  <a:latin typeface="arial"/>
                  <a:ea typeface="arial"/>
                </a:rPr>
                <a:t>3-5 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5" name="TextBox 21"/>
          <p:cNvSpPr/>
          <p:nvPr/>
        </p:nvSpPr>
        <p:spPr>
          <a:xfrm>
            <a:off x="16892640" y="1361880"/>
            <a:ext cx="102960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16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mo Bold"/>
                <a:ea typeface="Arimo Bold"/>
              </a:rPr>
              <a:t>Members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AutoShape 22"/>
          <p:cNvSpPr/>
          <p:nvPr/>
        </p:nvSpPr>
        <p:spPr>
          <a:xfrm flipH="1">
            <a:off x="7923960" y="6497280"/>
            <a:ext cx="9209880" cy="12240"/>
          </a:xfrm>
          <a:prstGeom prst="line">
            <a:avLst/>
          </a:prstGeom>
          <a:ln w="9525" cap="rnd">
            <a:solidFill>
              <a:srgbClr val="5B9B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760" rIns="90000" bIns="-3276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7" name="Group 23"/>
          <p:cNvGrpSpPr/>
          <p:nvPr/>
        </p:nvGrpSpPr>
        <p:grpSpPr>
          <a:xfrm>
            <a:off x="7898400" y="6369840"/>
            <a:ext cx="248760" cy="276480"/>
            <a:chOff x="7898400" y="6369840"/>
            <a:chExt cx="248760" cy="276480"/>
          </a:xfrm>
        </p:grpSpPr>
        <p:sp>
          <p:nvSpPr>
            <p:cNvPr id="108" name="Freeform 24"/>
            <p:cNvSpPr/>
            <p:nvPr/>
          </p:nvSpPr>
          <p:spPr>
            <a:xfrm>
              <a:off x="7898400" y="6369840"/>
              <a:ext cx="248760" cy="276480"/>
            </a:xfrm>
            <a:custGeom>
              <a:avLst/>
              <a:gdLst>
                <a:gd name="textAreaLeft" fmla="*/ 0 w 248760"/>
                <a:gd name="textAreaRight" fmla="*/ 249120 w 248760"/>
                <a:gd name="textAreaTop" fmla="*/ 0 h 276480"/>
                <a:gd name="textAreaBottom" fmla="*/ 276840 h 276480"/>
              </a:gdLst>
              <a:ahLst/>
              <a:cxnLst/>
              <a:rect l="textAreaLeft" t="textAreaTop" r="textAreaRight" b="textAreaBottom"/>
              <a:pathLst>
                <a:path w="332105" h="369316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" name="Group 25"/>
          <p:cNvGrpSpPr/>
          <p:nvPr/>
        </p:nvGrpSpPr>
        <p:grpSpPr>
          <a:xfrm>
            <a:off x="10849320" y="6369840"/>
            <a:ext cx="248760" cy="276480"/>
            <a:chOff x="10849320" y="6369840"/>
            <a:chExt cx="248760" cy="276480"/>
          </a:xfrm>
        </p:grpSpPr>
        <p:sp>
          <p:nvSpPr>
            <p:cNvPr id="110" name="Freeform 26"/>
            <p:cNvSpPr/>
            <p:nvPr/>
          </p:nvSpPr>
          <p:spPr>
            <a:xfrm>
              <a:off x="10849320" y="6369840"/>
              <a:ext cx="248760" cy="276480"/>
            </a:xfrm>
            <a:custGeom>
              <a:avLst/>
              <a:gdLst>
                <a:gd name="textAreaLeft" fmla="*/ 0 w 248760"/>
                <a:gd name="textAreaRight" fmla="*/ 249120 w 248760"/>
                <a:gd name="textAreaTop" fmla="*/ 0 h 276480"/>
                <a:gd name="textAreaBottom" fmla="*/ 276840 h 276480"/>
              </a:gdLst>
              <a:ahLst/>
              <a:cxnLst/>
              <a:rect l="textAreaLeft" t="textAreaTop" r="textAreaRight" b="textAreaBottom"/>
              <a:pathLst>
                <a:path w="332105" h="369316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1" name="Group 27"/>
          <p:cNvGrpSpPr/>
          <p:nvPr/>
        </p:nvGrpSpPr>
        <p:grpSpPr>
          <a:xfrm>
            <a:off x="13901040" y="6369840"/>
            <a:ext cx="248760" cy="276480"/>
            <a:chOff x="13901040" y="6369840"/>
            <a:chExt cx="248760" cy="276480"/>
          </a:xfrm>
        </p:grpSpPr>
        <p:sp>
          <p:nvSpPr>
            <p:cNvPr id="112" name="Freeform 28"/>
            <p:cNvSpPr/>
            <p:nvPr/>
          </p:nvSpPr>
          <p:spPr>
            <a:xfrm>
              <a:off x="13901040" y="6369840"/>
              <a:ext cx="248760" cy="276480"/>
            </a:xfrm>
            <a:custGeom>
              <a:avLst/>
              <a:gdLst>
                <a:gd name="textAreaLeft" fmla="*/ 0 w 248760"/>
                <a:gd name="textAreaRight" fmla="*/ 249120 w 248760"/>
                <a:gd name="textAreaTop" fmla="*/ 0 h 276480"/>
                <a:gd name="textAreaBottom" fmla="*/ 276840 h 276480"/>
              </a:gdLst>
              <a:ahLst/>
              <a:cxnLst/>
              <a:rect l="textAreaLeft" t="textAreaTop" r="textAreaRight" b="textAreaBottom"/>
              <a:pathLst>
                <a:path w="332105" h="369316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" name="Group 29"/>
          <p:cNvGrpSpPr/>
          <p:nvPr/>
        </p:nvGrpSpPr>
        <p:grpSpPr>
          <a:xfrm>
            <a:off x="16952400" y="6369840"/>
            <a:ext cx="248760" cy="276480"/>
            <a:chOff x="16952400" y="6369840"/>
            <a:chExt cx="248760" cy="276480"/>
          </a:xfrm>
        </p:grpSpPr>
        <p:sp>
          <p:nvSpPr>
            <p:cNvPr id="114" name="Freeform 30"/>
            <p:cNvSpPr/>
            <p:nvPr/>
          </p:nvSpPr>
          <p:spPr>
            <a:xfrm>
              <a:off x="16952400" y="6369840"/>
              <a:ext cx="248760" cy="276480"/>
            </a:xfrm>
            <a:custGeom>
              <a:avLst/>
              <a:gdLst>
                <a:gd name="textAreaLeft" fmla="*/ 0 w 248760"/>
                <a:gd name="textAreaRight" fmla="*/ 249120 w 248760"/>
                <a:gd name="textAreaTop" fmla="*/ 0 h 276480"/>
                <a:gd name="textAreaBottom" fmla="*/ 276840 h 276480"/>
              </a:gdLst>
              <a:ahLst/>
              <a:cxnLst/>
              <a:rect l="textAreaLeft" t="textAreaTop" r="textAreaRight" b="textAreaBottom"/>
              <a:pathLst>
                <a:path w="332105" h="369316">
                  <a:moveTo>
                    <a:pt x="0" y="184658"/>
                  </a:moveTo>
                  <a:cubicBezTo>
                    <a:pt x="0" y="82677"/>
                    <a:pt x="74295" y="0"/>
                    <a:pt x="166116" y="0"/>
                  </a:cubicBezTo>
                  <a:cubicBezTo>
                    <a:pt x="257937" y="0"/>
                    <a:pt x="332105" y="82677"/>
                    <a:pt x="332105" y="184658"/>
                  </a:cubicBezTo>
                  <a:cubicBezTo>
                    <a:pt x="332105" y="286639"/>
                    <a:pt x="257810" y="369316"/>
                    <a:pt x="166116" y="369316"/>
                  </a:cubicBezTo>
                  <a:cubicBezTo>
                    <a:pt x="74422" y="369316"/>
                    <a:pt x="0" y="286639"/>
                    <a:pt x="0" y="184658"/>
                  </a:cubicBezTo>
                  <a:close/>
                </a:path>
              </a:pathLst>
            </a:custGeom>
            <a:solidFill>
              <a:srgbClr val="92D050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5" name="TextBox 31"/>
          <p:cNvSpPr/>
          <p:nvPr/>
        </p:nvSpPr>
        <p:spPr>
          <a:xfrm>
            <a:off x="7807320" y="6726960"/>
            <a:ext cx="2347200" cy="157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16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mo Bold"/>
                <a:ea typeface="Arimo Bold"/>
              </a:rPr>
              <a:t>Kick Off &lt; 1ˢᵗ  Month 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Problem statement discussion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Discussion on data collection and model development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32"/>
          <p:cNvSpPr/>
          <p:nvPr/>
        </p:nvSpPr>
        <p:spPr>
          <a:xfrm>
            <a:off x="10187640" y="6717600"/>
            <a:ext cx="2624040" cy="19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16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mo Bold"/>
                <a:ea typeface="Arimo Bold"/>
              </a:rPr>
              <a:t>Milestone 1 &lt; 2ⁿᵈ Month 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Collection of led indicator pattern data for various devices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Analysis of data and data pre-processing including led and error codes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244440" indent="-122040" defTabSz="914400">
              <a:lnSpc>
                <a:spcPts val="1621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33"/>
          <p:cNvSpPr/>
          <p:nvPr/>
        </p:nvSpPr>
        <p:spPr>
          <a:xfrm>
            <a:off x="12994920" y="6717600"/>
            <a:ext cx="2624040" cy="137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16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mo Bold"/>
                <a:ea typeface="Arimo Bold"/>
              </a:rPr>
              <a:t>Milestone 2 &lt; 4ᵗʰ Month 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Initial model development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Finetuning of model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Validation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PoC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34"/>
          <p:cNvSpPr/>
          <p:nvPr/>
        </p:nvSpPr>
        <p:spPr>
          <a:xfrm>
            <a:off x="15854400" y="6660720"/>
            <a:ext cx="2148840" cy="11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16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mo Bold"/>
                <a:ea typeface="Arimo Bold"/>
              </a:rPr>
              <a:t>Closure &lt; 6ᵗʰ Month 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Final model and data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Learnings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244440" lvl="1" indent="-12204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r>
              <a:rPr lang="en-US" sz="1350" b="0" strike="noStrike" spc="-1">
                <a:solidFill>
                  <a:srgbClr val="000000"/>
                </a:solidFill>
                <a:latin typeface="arial"/>
                <a:ea typeface="arial"/>
              </a:rPr>
              <a:t>Concluding remarks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" name="Group 35"/>
          <p:cNvGrpSpPr/>
          <p:nvPr/>
        </p:nvGrpSpPr>
        <p:grpSpPr>
          <a:xfrm>
            <a:off x="3085560" y="7255440"/>
            <a:ext cx="1349640" cy="1364040"/>
            <a:chOff x="3085560" y="7255440"/>
            <a:chExt cx="1349640" cy="1364040"/>
          </a:xfrm>
        </p:grpSpPr>
        <p:sp>
          <p:nvSpPr>
            <p:cNvPr id="120" name="Freeform 36"/>
            <p:cNvSpPr/>
            <p:nvPr/>
          </p:nvSpPr>
          <p:spPr>
            <a:xfrm>
              <a:off x="3085560" y="7255440"/>
              <a:ext cx="1349640" cy="1364040"/>
            </a:xfrm>
            <a:custGeom>
              <a:avLst/>
              <a:gdLst>
                <a:gd name="textAreaLeft" fmla="*/ 0 w 1349640"/>
                <a:gd name="textAreaRight" fmla="*/ 1350000 w 1349640"/>
                <a:gd name="textAreaTop" fmla="*/ 0 h 1364040"/>
                <a:gd name="textAreaBottom" fmla="*/ 1364400 h 1364040"/>
              </a:gdLst>
              <a:ahLst/>
              <a:cxnLst/>
              <a:rect l="textAreaLeft" t="textAreaTop" r="textAreaRight" b="textAreaBottom"/>
              <a:pathLst>
                <a:path w="1799971" h="1819021">
                  <a:moveTo>
                    <a:pt x="0" y="0"/>
                  </a:moveTo>
                  <a:lnTo>
                    <a:pt x="1799971" y="0"/>
                  </a:lnTo>
                  <a:lnTo>
                    <a:pt x="1799971" y="1819021"/>
                  </a:lnTo>
                  <a:lnTo>
                    <a:pt x="0" y="181902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2"/>
          <p:cNvGrpSpPr/>
          <p:nvPr/>
        </p:nvGrpSpPr>
        <p:grpSpPr>
          <a:xfrm>
            <a:off x="0" y="157680"/>
            <a:ext cx="253800" cy="723600"/>
            <a:chOff x="0" y="157680"/>
            <a:chExt cx="253800" cy="723600"/>
          </a:xfrm>
        </p:grpSpPr>
        <p:sp>
          <p:nvSpPr>
            <p:cNvPr id="122" name="Freeform 3"/>
            <p:cNvSpPr/>
            <p:nvPr/>
          </p:nvSpPr>
          <p:spPr>
            <a:xfrm>
              <a:off x="0" y="157680"/>
              <a:ext cx="253800" cy="7236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3" name="Group 4"/>
          <p:cNvGrpSpPr/>
          <p:nvPr/>
        </p:nvGrpSpPr>
        <p:grpSpPr>
          <a:xfrm>
            <a:off x="572760" y="66600"/>
            <a:ext cx="14103000" cy="891360"/>
            <a:chOff x="572760" y="66600"/>
            <a:chExt cx="14103000" cy="891360"/>
          </a:xfrm>
        </p:grpSpPr>
        <p:sp>
          <p:nvSpPr>
            <p:cNvPr id="124" name="Freeform 5"/>
            <p:cNvSpPr/>
            <p:nvPr/>
          </p:nvSpPr>
          <p:spPr>
            <a:xfrm>
              <a:off x="572760" y="81000"/>
              <a:ext cx="14103000" cy="876960"/>
            </a:xfrm>
            <a:custGeom>
              <a:avLst/>
              <a:gdLst>
                <a:gd name="textAreaLeft" fmla="*/ 0 w 14103000"/>
                <a:gd name="textAreaRight" fmla="*/ 14103360 w 14103000"/>
                <a:gd name="textAreaTop" fmla="*/ 0 h 876960"/>
                <a:gd name="textAreaBottom" fmla="*/ 877320 h 876960"/>
              </a:gdLst>
              <a:ahLst/>
              <a:cxnLst/>
              <a:rect l="textAreaLeft" t="textAreaTop" r="textAreaRight" b="textAreaBottom"/>
              <a:pathLst>
                <a:path w="18804364" h="1169550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TextBox 6"/>
            <p:cNvSpPr/>
            <p:nvPr/>
          </p:nvSpPr>
          <p:spPr>
            <a:xfrm>
              <a:off x="572760" y="66600"/>
              <a:ext cx="14103000" cy="89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5760"/>
                </a:lnSpc>
              </a:pPr>
              <a:r>
                <a:rPr lang="en-US" sz="4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Literature survey and study</a:t>
              </a:r>
              <a:endParaRPr lang="en-US" sz="4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" name="Group 7"/>
          <p:cNvGrpSpPr/>
          <p:nvPr/>
        </p:nvGrpSpPr>
        <p:grpSpPr>
          <a:xfrm>
            <a:off x="357120" y="157680"/>
            <a:ext cx="112680" cy="723600"/>
            <a:chOff x="357120" y="157680"/>
            <a:chExt cx="112680" cy="723600"/>
          </a:xfrm>
        </p:grpSpPr>
        <p:sp>
          <p:nvSpPr>
            <p:cNvPr id="127" name="Freeform 8"/>
            <p:cNvSpPr/>
            <p:nvPr/>
          </p:nvSpPr>
          <p:spPr>
            <a:xfrm>
              <a:off x="357120" y="157680"/>
              <a:ext cx="112680" cy="72360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" name="Group 9"/>
          <p:cNvGrpSpPr/>
          <p:nvPr/>
        </p:nvGrpSpPr>
        <p:grpSpPr>
          <a:xfrm>
            <a:off x="16413120" y="157680"/>
            <a:ext cx="1874520" cy="712080"/>
            <a:chOff x="16413120" y="157680"/>
            <a:chExt cx="1874520" cy="712080"/>
          </a:xfrm>
        </p:grpSpPr>
        <p:sp>
          <p:nvSpPr>
            <p:cNvPr id="129" name="Freeform 10"/>
            <p:cNvSpPr/>
            <p:nvPr/>
          </p:nvSpPr>
          <p:spPr>
            <a:xfrm>
              <a:off x="16413120" y="157680"/>
              <a:ext cx="1874520" cy="712080"/>
            </a:xfrm>
            <a:custGeom>
              <a:avLst/>
              <a:gdLst>
                <a:gd name="textAreaLeft" fmla="*/ 0 w 1874520"/>
                <a:gd name="textAreaRight" fmla="*/ 1874880 w 1874520"/>
                <a:gd name="textAreaTop" fmla="*/ 0 h 712080"/>
                <a:gd name="textAreaBottom" fmla="*/ 712440 h 712080"/>
              </a:gdLst>
              <a:ahLst/>
              <a:cxnLst/>
              <a:rect l="textAreaLeft" t="textAreaTop" r="textAreaRight" b="textAreaBottom"/>
              <a:pathLst>
                <a:path w="2499868" h="949833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" name="Group 11"/>
          <p:cNvGrpSpPr/>
          <p:nvPr/>
        </p:nvGrpSpPr>
        <p:grpSpPr>
          <a:xfrm>
            <a:off x="521279" y="1160280"/>
            <a:ext cx="14772014" cy="1656850"/>
            <a:chOff x="521280" y="1160280"/>
            <a:chExt cx="9319242" cy="1656850"/>
          </a:xfrm>
        </p:grpSpPr>
        <p:sp>
          <p:nvSpPr>
            <p:cNvPr id="131" name="TextBox 12"/>
            <p:cNvSpPr/>
            <p:nvPr/>
          </p:nvSpPr>
          <p:spPr>
            <a:xfrm>
              <a:off x="521280" y="1160280"/>
              <a:ext cx="6257520" cy="43088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8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Problem Context (LED Patterns &amp; Error Codes)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TextBox 13"/>
            <p:cNvSpPr/>
            <p:nvPr/>
          </p:nvSpPr>
          <p:spPr>
            <a:xfrm>
              <a:off x="696882" y="1586024"/>
              <a:ext cx="9143640" cy="123110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LED-blink patterns in appliances are not standardized — vary by brand, device type, and even model.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Public documentation is mostly text-based and scattered across support pages, manuals, and forums.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No single unified dataset exists for LED-blink frequency, color transitions, or timing patterns.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Error-code lists do exist publicly (washing machines, refrigerators), but LED behaviors are rarely documented clearly.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" name="Group 14"/>
          <p:cNvGrpSpPr/>
          <p:nvPr/>
        </p:nvGrpSpPr>
        <p:grpSpPr>
          <a:xfrm>
            <a:off x="469799" y="2873268"/>
            <a:ext cx="14823493" cy="1634155"/>
            <a:chOff x="521280" y="2455920"/>
            <a:chExt cx="9351719" cy="1634155"/>
          </a:xfrm>
        </p:grpSpPr>
        <p:sp>
          <p:nvSpPr>
            <p:cNvPr id="134" name="TextBox 15"/>
            <p:cNvSpPr/>
            <p:nvPr/>
          </p:nvSpPr>
          <p:spPr>
            <a:xfrm>
              <a:off x="521280" y="2455920"/>
              <a:ext cx="6172920" cy="43088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8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Existing Online Resources (Survey Findings)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TextBox 16"/>
            <p:cNvSpPr/>
            <p:nvPr/>
          </p:nvSpPr>
          <p:spPr>
            <a:xfrm>
              <a:off x="729359" y="2858969"/>
              <a:ext cx="9143640" cy="123110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Router, TV, and appliance support pages describe LED behavior, but only in general terms.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Several sources (TP-Link, Cisco, Samsung TV repair forums) provide manual interpretation, not machine-readable data.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Community forums contain partial blink-code documentation, but inconsistent, not reliable for model training.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Service manuals (where accurate LED timing charts exist) are mostly restricted and not publicly accessible.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" name="Group 17"/>
          <p:cNvGrpSpPr/>
          <p:nvPr/>
        </p:nvGrpSpPr>
        <p:grpSpPr>
          <a:xfrm>
            <a:off x="469800" y="4443123"/>
            <a:ext cx="14874972" cy="1362988"/>
            <a:chOff x="488803" y="3861521"/>
            <a:chExt cx="9384196" cy="1362988"/>
          </a:xfrm>
        </p:grpSpPr>
        <p:sp>
          <p:nvSpPr>
            <p:cNvPr id="137" name="TextBox 18"/>
            <p:cNvSpPr/>
            <p:nvPr/>
          </p:nvSpPr>
          <p:spPr>
            <a:xfrm>
              <a:off x="488803" y="3861521"/>
              <a:ext cx="4527360" cy="43088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8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Gaps Identified From Survey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TextBox 19"/>
            <p:cNvSpPr/>
            <p:nvPr/>
          </p:nvSpPr>
          <p:spPr>
            <a:xfrm>
              <a:off x="729359" y="4301179"/>
              <a:ext cx="9143640" cy="92333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No tool available that allows uploading a video and detecting LED-blink patterns automatically.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No existing mapping from video → blink detection → error interpretation.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LED patterns differ in color, frequency, and phase; making generalization difficult without building our own dataset.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9" name="Group 20"/>
          <p:cNvGrpSpPr/>
          <p:nvPr/>
        </p:nvGrpSpPr>
        <p:grpSpPr>
          <a:xfrm>
            <a:off x="469799" y="5895147"/>
            <a:ext cx="16475176" cy="2216810"/>
            <a:chOff x="488803" y="5895147"/>
            <a:chExt cx="10393718" cy="2216810"/>
          </a:xfrm>
        </p:grpSpPr>
        <p:sp>
          <p:nvSpPr>
            <p:cNvPr id="140" name="TextBox 21"/>
            <p:cNvSpPr/>
            <p:nvPr/>
          </p:nvSpPr>
          <p:spPr>
            <a:xfrm>
              <a:off x="488803" y="5895147"/>
              <a:ext cx="5952240" cy="43088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Literature Review (Research Papers Studied)</a:t>
              </a:r>
              <a:endParaRPr lang="en-US" sz="2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TextBox 22"/>
            <p:cNvSpPr/>
            <p:nvPr/>
          </p:nvSpPr>
          <p:spPr>
            <a:xfrm>
              <a:off x="521280" y="6265298"/>
              <a:ext cx="10361241" cy="184665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400" b="1" strike="noStrike" spc="-1" dirty="0" err="1">
                  <a:solidFill>
                    <a:srgbClr val="000000"/>
                  </a:solidFill>
                  <a:latin typeface="Arimo Bold"/>
                  <a:ea typeface="Arimo Bold"/>
                </a:rPr>
                <a:t>DSText</a:t>
              </a:r>
              <a:r>
                <a:rPr lang="en-US" sz="24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 V2 (2023) </a:t>
              </a:r>
              <a:r>
                <a:rPr lang="en-US" sz="24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– Helps detect &amp; recognize small/blurry text in videos → applicable for error-code recognition.</a:t>
              </a:r>
              <a:endParaRPr lang="en-US" sz="24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4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Benchmarking VLMs for Video OCR (2025)</a:t>
              </a:r>
              <a:r>
                <a:rPr lang="en-US" sz="24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 – Evaluates OCR in dynamic videos → guides model selection for our system.</a:t>
              </a:r>
              <a:endParaRPr lang="en-US" sz="24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4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Scene Text Under Environmental Challenges (2025)</a:t>
              </a:r>
              <a:r>
                <a:rPr lang="en-US" sz="24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 – Addresses blur, glare, angles → improves robustness in real captures.</a:t>
              </a:r>
              <a:endParaRPr lang="en-US" sz="24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4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ENBC (2025)</a:t>
              </a:r>
              <a:r>
                <a:rPr lang="en-US" sz="24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 – Background-noise removal for OCR → useful in reflective or noisy device screens.</a:t>
              </a:r>
              <a:endParaRPr lang="en-US" sz="2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" name="Group 23"/>
          <p:cNvGrpSpPr/>
          <p:nvPr/>
        </p:nvGrpSpPr>
        <p:grpSpPr>
          <a:xfrm>
            <a:off x="413460" y="8264392"/>
            <a:ext cx="14596626" cy="1102576"/>
            <a:chOff x="521280" y="6741720"/>
            <a:chExt cx="9208595" cy="511500"/>
          </a:xfrm>
        </p:grpSpPr>
        <p:sp>
          <p:nvSpPr>
            <p:cNvPr id="143" name="TextBox 24"/>
            <p:cNvSpPr/>
            <p:nvPr/>
          </p:nvSpPr>
          <p:spPr>
            <a:xfrm>
              <a:off x="521280" y="6741720"/>
              <a:ext cx="4527360" cy="19989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What the Literature Shows</a:t>
              </a:r>
              <a:endParaRPr lang="en-US" sz="2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TextBox 25"/>
            <p:cNvSpPr/>
            <p:nvPr/>
          </p:nvSpPr>
          <p:spPr>
            <a:xfrm>
              <a:off x="586235" y="6967657"/>
              <a:ext cx="9143640" cy="28556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Strong existing work on OCR in video, noise reduction, and robust text recognition.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No research focuses on LED-blink detection for appliances, leaving a clear innovation opportunity.</a:t>
              </a:r>
              <a:endParaRPr lang="en-US" sz="2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2"/>
          <p:cNvGrpSpPr/>
          <p:nvPr/>
        </p:nvGrpSpPr>
        <p:grpSpPr>
          <a:xfrm>
            <a:off x="0" y="157680"/>
            <a:ext cx="253800" cy="723600"/>
            <a:chOff x="0" y="157680"/>
            <a:chExt cx="253800" cy="723600"/>
          </a:xfrm>
        </p:grpSpPr>
        <p:sp>
          <p:nvSpPr>
            <p:cNvPr id="146" name="Freeform 3"/>
            <p:cNvSpPr/>
            <p:nvPr/>
          </p:nvSpPr>
          <p:spPr>
            <a:xfrm>
              <a:off x="0" y="157680"/>
              <a:ext cx="253800" cy="7236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7" name="Group 4"/>
          <p:cNvGrpSpPr/>
          <p:nvPr/>
        </p:nvGrpSpPr>
        <p:grpSpPr>
          <a:xfrm>
            <a:off x="572760" y="66600"/>
            <a:ext cx="14103000" cy="891360"/>
            <a:chOff x="572760" y="66600"/>
            <a:chExt cx="14103000" cy="891360"/>
          </a:xfrm>
        </p:grpSpPr>
        <p:sp>
          <p:nvSpPr>
            <p:cNvPr id="148" name="Freeform 5"/>
            <p:cNvSpPr/>
            <p:nvPr/>
          </p:nvSpPr>
          <p:spPr>
            <a:xfrm>
              <a:off x="572760" y="81000"/>
              <a:ext cx="14103000" cy="876960"/>
            </a:xfrm>
            <a:custGeom>
              <a:avLst/>
              <a:gdLst>
                <a:gd name="textAreaLeft" fmla="*/ 0 w 14103000"/>
                <a:gd name="textAreaRight" fmla="*/ 14103360 w 14103000"/>
                <a:gd name="textAreaTop" fmla="*/ 0 h 876960"/>
                <a:gd name="textAreaBottom" fmla="*/ 877320 h 876960"/>
              </a:gdLst>
              <a:ahLst/>
              <a:cxnLst/>
              <a:rect l="textAreaLeft" t="textAreaTop" r="textAreaRight" b="textAreaBottom"/>
              <a:pathLst>
                <a:path w="18804364" h="1169550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TextBox 6"/>
            <p:cNvSpPr/>
            <p:nvPr/>
          </p:nvSpPr>
          <p:spPr>
            <a:xfrm>
              <a:off x="572760" y="66600"/>
              <a:ext cx="14103000" cy="89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5760"/>
                </a:lnSpc>
              </a:pPr>
              <a:r>
                <a:rPr lang="en-US" sz="4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Literature survey and study</a:t>
              </a:r>
              <a:endParaRPr lang="en-US" sz="4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" name="Group 7"/>
          <p:cNvGrpSpPr/>
          <p:nvPr/>
        </p:nvGrpSpPr>
        <p:grpSpPr>
          <a:xfrm>
            <a:off x="357120" y="157680"/>
            <a:ext cx="112680" cy="723600"/>
            <a:chOff x="357120" y="157680"/>
            <a:chExt cx="112680" cy="723600"/>
          </a:xfrm>
        </p:grpSpPr>
        <p:sp>
          <p:nvSpPr>
            <p:cNvPr id="151" name="Freeform 8"/>
            <p:cNvSpPr/>
            <p:nvPr/>
          </p:nvSpPr>
          <p:spPr>
            <a:xfrm>
              <a:off x="357120" y="157680"/>
              <a:ext cx="112680" cy="72360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" name="Group 9"/>
          <p:cNvGrpSpPr/>
          <p:nvPr/>
        </p:nvGrpSpPr>
        <p:grpSpPr>
          <a:xfrm>
            <a:off x="16413120" y="157680"/>
            <a:ext cx="1874520" cy="712080"/>
            <a:chOff x="16413120" y="157680"/>
            <a:chExt cx="1874520" cy="712080"/>
          </a:xfrm>
        </p:grpSpPr>
        <p:sp>
          <p:nvSpPr>
            <p:cNvPr id="153" name="Freeform 10"/>
            <p:cNvSpPr/>
            <p:nvPr/>
          </p:nvSpPr>
          <p:spPr>
            <a:xfrm>
              <a:off x="16413120" y="157680"/>
              <a:ext cx="1874520" cy="712080"/>
            </a:xfrm>
            <a:custGeom>
              <a:avLst/>
              <a:gdLst>
                <a:gd name="textAreaLeft" fmla="*/ 0 w 1874520"/>
                <a:gd name="textAreaRight" fmla="*/ 1874880 w 1874520"/>
                <a:gd name="textAreaTop" fmla="*/ 0 h 712080"/>
                <a:gd name="textAreaBottom" fmla="*/ 712440 h 712080"/>
              </a:gdLst>
              <a:ahLst/>
              <a:cxnLst/>
              <a:rect l="textAreaLeft" t="textAreaTop" r="textAreaRight" b="textAreaBottom"/>
              <a:pathLst>
                <a:path w="2499868" h="949833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" name="Group 11"/>
          <p:cNvGrpSpPr/>
          <p:nvPr/>
        </p:nvGrpSpPr>
        <p:grpSpPr>
          <a:xfrm>
            <a:off x="0" y="1298160"/>
            <a:ext cx="18287640" cy="8474490"/>
            <a:chOff x="0" y="1298160"/>
            <a:chExt cx="18287640" cy="8474490"/>
          </a:xfrm>
        </p:grpSpPr>
        <p:sp>
          <p:nvSpPr>
            <p:cNvPr id="155" name="Freeform 12"/>
            <p:cNvSpPr/>
            <p:nvPr/>
          </p:nvSpPr>
          <p:spPr>
            <a:xfrm>
              <a:off x="0" y="1326600"/>
              <a:ext cx="18287640" cy="798885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24384000" h="1538859">
                  <a:moveTo>
                    <a:pt x="0" y="0"/>
                  </a:moveTo>
                  <a:lnTo>
                    <a:pt x="24384000" y="0"/>
                  </a:lnTo>
                  <a:lnTo>
                    <a:pt x="24384000" y="1538859"/>
                  </a:lnTo>
                  <a:lnTo>
                    <a:pt x="0" y="1538859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TextBox 13"/>
            <p:cNvSpPr/>
            <p:nvPr/>
          </p:nvSpPr>
          <p:spPr>
            <a:xfrm>
              <a:off x="0" y="1298160"/>
              <a:ext cx="18287640" cy="847449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t">
              <a:noAutofit/>
            </a:bodyPr>
            <a:lstStyle/>
            <a:p>
              <a:pPr marL="434520" lvl="1" indent="-217080" algn="just" defTabSz="914400">
                <a:lnSpc>
                  <a:spcPts val="2880"/>
                </a:lnSpc>
                <a:buClr>
                  <a:srgbClr val="0E4094"/>
                </a:buClr>
                <a:buFont typeface="Arial"/>
                <a:buChar char="•"/>
              </a:pPr>
              <a:r>
                <a:rPr lang="en-US" sz="2800" b="1" u="sng" strike="noStrike" spc="-1" dirty="0">
                  <a:solidFill>
                    <a:srgbClr val="0E4094"/>
                  </a:solidFill>
                  <a:uFillTx/>
                  <a:latin typeface="Calibri (MS) Bold"/>
                  <a:ea typeface="Calibri (MS) Bold"/>
                </a:rPr>
                <a:t>Major Observations / Conclusions: 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 LED-blink information is non-standard, incomplete, and varies across appliances and models.</a:t>
              </a: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Public sources provide inconsistent blink descriptions; many rely on community posts, not official data.</a:t>
              </a: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No centralized dataset exists → we must create one.</a:t>
              </a: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Service manuals contain accurate LED timing charts but are restricted (not accessible to students/consumers).</a:t>
              </a: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OCR challenges include:</a:t>
              </a:r>
            </a:p>
            <a:p>
              <a:pPr marL="963180" lvl="1" indent="-342900" algn="just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Reflections</a:t>
              </a:r>
              <a:endParaRPr lang="en-US" sz="2000" spc="-1" dirty="0">
                <a:solidFill>
                  <a:srgbClr val="0E4094"/>
                </a:solidFill>
                <a:latin typeface="Calibri (MS)"/>
                <a:ea typeface="Calibri (MS)"/>
              </a:endParaRPr>
            </a:p>
            <a:p>
              <a:pPr marL="963180" lvl="1" indent="-342900" algn="just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Blur</a:t>
              </a:r>
              <a:endParaRPr lang="en-US" sz="2000" spc="-1" dirty="0">
                <a:solidFill>
                  <a:srgbClr val="0E4094"/>
                </a:solidFill>
                <a:latin typeface="Calibri (MS)"/>
                <a:ea typeface="Calibri (MS)"/>
              </a:endParaRPr>
            </a:p>
            <a:p>
              <a:pPr marL="963180" lvl="1" indent="-342900" algn="just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angled shots</a:t>
              </a:r>
            </a:p>
            <a:p>
              <a:pPr marL="963180" lvl="1" indent="-342900" algn="just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small fonts</a:t>
              </a:r>
            </a:p>
            <a:p>
              <a:pPr marL="963180" lvl="1" indent="-342900" algn="just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low lighting</a:t>
              </a:r>
              <a:endParaRPr lang="en-US" sz="2000" spc="-1" dirty="0">
                <a:solidFill>
                  <a:srgbClr val="0E4094"/>
                </a:solidFill>
                <a:latin typeface="Calibri (MS)"/>
                <a:ea typeface="Calibri (MS)"/>
              </a:endParaRPr>
            </a:p>
            <a:p>
              <a:pPr marL="325800" indent="-162720" algn="just">
                <a:lnSpc>
                  <a:spcPts val="2160"/>
                </a:lnSpc>
                <a:tabLst>
                  <a:tab pos="0" algn="l"/>
                </a:tabLst>
              </a:pPr>
              <a:r>
                <a:rPr lang="en-US" sz="2000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6. LED detection is affected by:</a:t>
              </a:r>
              <a:endParaRPr lang="en-US" sz="2000" b="0" strike="noStrike" spc="-1" dirty="0">
                <a:solidFill>
                  <a:srgbClr val="0E4094"/>
                </a:solidFill>
                <a:latin typeface="Calibri (MS)"/>
                <a:ea typeface="Calibri (MS)"/>
              </a:endParaRPr>
            </a:p>
            <a:p>
              <a:pPr marL="448830" indent="-285750" algn="just" defTabSz="914400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FPS variations</a:t>
              </a:r>
            </a:p>
            <a:p>
              <a:pPr marL="448830" indent="-285750" algn="just" defTabSz="914400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camera auto-exposure</a:t>
              </a:r>
            </a:p>
            <a:p>
              <a:pPr marL="448830" indent="-285750" algn="just" defTabSz="914400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mixed-color LEDs</a:t>
              </a:r>
            </a:p>
            <a:p>
              <a:pPr marL="448830" indent="-285750" algn="just" defTabSz="914400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000" b="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environment lighting</a:t>
              </a:r>
            </a:p>
            <a:p>
              <a:pPr marL="163080" algn="just" defTabSz="914400">
                <a:lnSpc>
                  <a:spcPts val="2160"/>
                </a:lnSpc>
                <a:tabLst>
                  <a:tab pos="0" algn="l"/>
                </a:tabLst>
              </a:pPr>
              <a:endParaRPr lang="en-US" sz="2000" spc="-1" dirty="0">
                <a:solidFill>
                  <a:srgbClr val="0E4094"/>
                </a:solidFill>
                <a:latin typeface="Calibri (MS)"/>
                <a:ea typeface="Calibri (MS)"/>
              </a:endParaRPr>
            </a:p>
            <a:p>
              <a:pPr marL="505980" indent="-342900" algn="just" defTabSz="914400">
                <a:lnSpc>
                  <a:spcPts val="2160"/>
                </a:lnSpc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sz="2800" b="1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Conclusions</a:t>
              </a:r>
              <a:endParaRPr lang="en-US" sz="2800" b="1" spc="-1" dirty="0">
                <a:solidFill>
                  <a:srgbClr val="0E4094"/>
                </a:solidFill>
                <a:latin typeface="Calibri (MS)"/>
                <a:ea typeface="Calibri (MS)"/>
              </a:endParaRP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LED-blink pattern interpretation from video is a new problem space with no existing automated solution.</a:t>
              </a: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Creating a dataset of video-based LED patterns + corresponding faults is essential for model development.</a:t>
              </a: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OCR and CV literature provides strong support, but temporal blink analysis must be built from scratch.</a:t>
              </a:r>
            </a:p>
            <a:p>
              <a:pPr marL="505980" indent="-342900" algn="just" defTabSz="914400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Our tool can become the first unified troubleshooting system using:</a:t>
              </a:r>
            </a:p>
            <a:p>
              <a:pPr marL="1077480" lvl="1" indent="-457200" algn="just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video analysis</a:t>
              </a:r>
            </a:p>
            <a:p>
              <a:pPr marL="1077480" lvl="1" indent="-457200" algn="just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blink-frequency detection</a:t>
              </a:r>
            </a:p>
            <a:p>
              <a:pPr marL="1077480" lvl="1" indent="-457200" algn="just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OCR-based error interpretation</a:t>
              </a:r>
            </a:p>
            <a:p>
              <a:pPr marL="1077480" lvl="1" indent="-457200" algn="just">
                <a:lnSpc>
                  <a:spcPts val="2160"/>
                </a:lnSpc>
                <a:buFont typeface="+mj-lt"/>
                <a:buAutoNum type="arabicPeriod"/>
                <a:tabLst>
                  <a:tab pos="0" algn="l"/>
                </a:tabLst>
              </a:pPr>
              <a:r>
                <a:rPr lang="en-US" sz="2000" strike="noStrike" spc="-1" dirty="0">
                  <a:solidFill>
                    <a:srgbClr val="0E4094"/>
                  </a:solidFill>
                  <a:latin typeface="Calibri (MS)"/>
                  <a:ea typeface="Calibri (MS)"/>
                </a:rPr>
                <a:t>device-specific mapping</a:t>
              </a:r>
            </a:p>
            <a:p>
              <a:pPr marL="163080" algn="just" defTabSz="914400">
                <a:lnSpc>
                  <a:spcPts val="2160"/>
                </a:lnSpc>
                <a:tabLst>
                  <a:tab pos="0" algn="l"/>
                </a:tabLst>
              </a:pPr>
              <a:endParaRPr lang="en-US" sz="2400" b="1" strike="noStrike" spc="-1" dirty="0">
                <a:solidFill>
                  <a:srgbClr val="0E4094"/>
                </a:solidFill>
                <a:latin typeface="Calibri (MS)"/>
                <a:ea typeface="Calibri (MS)"/>
              </a:endParaRPr>
            </a:p>
            <a:p>
              <a:pPr marL="325800" indent="-162720" algn="just" defTabSz="914400">
                <a:lnSpc>
                  <a:spcPts val="216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9" name="TextBox 16"/>
          <p:cNvSpPr/>
          <p:nvPr/>
        </p:nvSpPr>
        <p:spPr>
          <a:xfrm>
            <a:off x="754920" y="3052080"/>
            <a:ext cx="9143640" cy="2051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91600" lvl="1" indent="-145800" defTabSz="914400">
              <a:lnSpc>
                <a:spcPts val="1621"/>
              </a:lnSpc>
              <a:buClr>
                <a:srgbClr val="000000"/>
              </a:buClr>
              <a:buFont typeface="Arial"/>
              <a:buChar char="•"/>
            </a:pP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0" name="Group 17"/>
          <p:cNvGrpSpPr/>
          <p:nvPr/>
        </p:nvGrpSpPr>
        <p:grpSpPr>
          <a:xfrm>
            <a:off x="5104913" y="5666602"/>
            <a:ext cx="9351360" cy="516224"/>
            <a:chOff x="547200" y="6423840"/>
            <a:chExt cx="9351360" cy="516224"/>
          </a:xfrm>
        </p:grpSpPr>
        <p:sp>
          <p:nvSpPr>
            <p:cNvPr id="161" name="TextBox 18"/>
            <p:cNvSpPr/>
            <p:nvPr/>
          </p:nvSpPr>
          <p:spPr>
            <a:xfrm>
              <a:off x="547200" y="6423840"/>
              <a:ext cx="452736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>
                <a:lnSpc>
                  <a:spcPts val="1919"/>
                </a:lnSpc>
              </a:pPr>
              <a:endParaRPr lang="en-US" sz="16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TextBox 19"/>
            <p:cNvSpPr/>
            <p:nvPr/>
          </p:nvSpPr>
          <p:spPr>
            <a:xfrm>
              <a:off x="754920" y="6734880"/>
              <a:ext cx="9143640" cy="20518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lnSpc>
                  <a:spcPts val="1621"/>
                </a:lnSpc>
                <a:buClr>
                  <a:srgbClr val="000000"/>
                </a:buClr>
                <a:buFont typeface="Arial"/>
                <a:buChar char="•"/>
              </a:pPr>
              <a:endParaRPr lang="en-US" sz="135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2"/>
          <p:cNvGrpSpPr/>
          <p:nvPr/>
        </p:nvGrpSpPr>
        <p:grpSpPr>
          <a:xfrm>
            <a:off x="0" y="157680"/>
            <a:ext cx="253800" cy="723600"/>
            <a:chOff x="0" y="157680"/>
            <a:chExt cx="253800" cy="723600"/>
          </a:xfrm>
        </p:grpSpPr>
        <p:sp>
          <p:nvSpPr>
            <p:cNvPr id="164" name="Freeform 3"/>
            <p:cNvSpPr/>
            <p:nvPr/>
          </p:nvSpPr>
          <p:spPr>
            <a:xfrm>
              <a:off x="0" y="157680"/>
              <a:ext cx="253800" cy="7236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5" name="Group 4"/>
          <p:cNvGrpSpPr/>
          <p:nvPr/>
        </p:nvGrpSpPr>
        <p:grpSpPr>
          <a:xfrm>
            <a:off x="572760" y="66600"/>
            <a:ext cx="14103000" cy="987840"/>
            <a:chOff x="572760" y="66600"/>
            <a:chExt cx="14103000" cy="987840"/>
          </a:xfrm>
        </p:grpSpPr>
        <p:sp>
          <p:nvSpPr>
            <p:cNvPr id="166" name="Freeform 5"/>
            <p:cNvSpPr/>
            <p:nvPr/>
          </p:nvSpPr>
          <p:spPr>
            <a:xfrm>
              <a:off x="572760" y="81000"/>
              <a:ext cx="14103000" cy="973440"/>
            </a:xfrm>
            <a:custGeom>
              <a:avLst/>
              <a:gdLst>
                <a:gd name="textAreaLeft" fmla="*/ 0 w 14103000"/>
                <a:gd name="textAreaRight" fmla="*/ 14103360 w 14103000"/>
                <a:gd name="textAreaTop" fmla="*/ 0 h 973440"/>
                <a:gd name="textAreaBottom" fmla="*/ 973800 h 973440"/>
              </a:gdLst>
              <a:ahLst/>
              <a:cxnLst/>
              <a:rect l="textAreaLeft" t="textAreaTop" r="textAreaRight" b="textAreaBottom"/>
              <a:pathLst>
                <a:path w="18804364" h="1298178">
                  <a:moveTo>
                    <a:pt x="0" y="0"/>
                  </a:moveTo>
                  <a:lnTo>
                    <a:pt x="18804364" y="0"/>
                  </a:lnTo>
                  <a:lnTo>
                    <a:pt x="18804364" y="1298178"/>
                  </a:lnTo>
                  <a:lnTo>
                    <a:pt x="0" y="129817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TextBox 6"/>
            <p:cNvSpPr/>
            <p:nvPr/>
          </p:nvSpPr>
          <p:spPr>
            <a:xfrm>
              <a:off x="572760" y="66600"/>
              <a:ext cx="14103000" cy="98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5760"/>
                </a:lnSpc>
              </a:pPr>
              <a:r>
                <a:rPr lang="en-US" sz="4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Identified Resource Requirements</a:t>
              </a:r>
              <a:endParaRPr lang="en-US" sz="4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" name="Group 7"/>
          <p:cNvGrpSpPr/>
          <p:nvPr/>
        </p:nvGrpSpPr>
        <p:grpSpPr>
          <a:xfrm>
            <a:off x="357120" y="157680"/>
            <a:ext cx="112680" cy="723600"/>
            <a:chOff x="357120" y="157680"/>
            <a:chExt cx="112680" cy="723600"/>
          </a:xfrm>
        </p:grpSpPr>
        <p:sp>
          <p:nvSpPr>
            <p:cNvPr id="169" name="Freeform 8"/>
            <p:cNvSpPr/>
            <p:nvPr/>
          </p:nvSpPr>
          <p:spPr>
            <a:xfrm>
              <a:off x="357120" y="157680"/>
              <a:ext cx="112680" cy="72360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" name="Group 9"/>
          <p:cNvGrpSpPr/>
          <p:nvPr/>
        </p:nvGrpSpPr>
        <p:grpSpPr>
          <a:xfrm>
            <a:off x="16413120" y="157680"/>
            <a:ext cx="1874520" cy="712080"/>
            <a:chOff x="16413120" y="157680"/>
            <a:chExt cx="1874520" cy="712080"/>
          </a:xfrm>
        </p:grpSpPr>
        <p:sp>
          <p:nvSpPr>
            <p:cNvPr id="171" name="Freeform 10"/>
            <p:cNvSpPr/>
            <p:nvPr/>
          </p:nvSpPr>
          <p:spPr>
            <a:xfrm>
              <a:off x="16413120" y="157680"/>
              <a:ext cx="1874520" cy="712080"/>
            </a:xfrm>
            <a:custGeom>
              <a:avLst/>
              <a:gdLst>
                <a:gd name="textAreaLeft" fmla="*/ 0 w 1874520"/>
                <a:gd name="textAreaRight" fmla="*/ 1874880 w 1874520"/>
                <a:gd name="textAreaTop" fmla="*/ 0 h 712080"/>
                <a:gd name="textAreaBottom" fmla="*/ 712440 h 712080"/>
              </a:gdLst>
              <a:ahLst/>
              <a:cxnLst/>
              <a:rect l="textAreaLeft" t="textAreaTop" r="textAreaRight" b="textAreaBottom"/>
              <a:pathLst>
                <a:path w="2499868" h="949833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" name="Group 11"/>
          <p:cNvGrpSpPr/>
          <p:nvPr/>
        </p:nvGrpSpPr>
        <p:grpSpPr>
          <a:xfrm>
            <a:off x="0" y="1298159"/>
            <a:ext cx="18287640" cy="8103015"/>
            <a:chOff x="0" y="1298159"/>
            <a:chExt cx="18287640" cy="8103015"/>
          </a:xfrm>
        </p:grpSpPr>
        <p:sp>
          <p:nvSpPr>
            <p:cNvPr id="173" name="Freeform 12"/>
            <p:cNvSpPr/>
            <p:nvPr/>
          </p:nvSpPr>
          <p:spPr>
            <a:xfrm>
              <a:off x="0" y="1326599"/>
              <a:ext cx="18287640" cy="7845975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246320"/>
                <a:gd name="textAreaBottom" fmla="*/ 1246680 h 1246320"/>
              </a:gdLst>
              <a:ahLst/>
              <a:cxnLst/>
              <a:rect l="textAreaLeft" t="textAreaTop" r="textAreaRight" b="textAreaBottom"/>
              <a:pathLst>
                <a:path w="24384000" h="1662049">
                  <a:moveTo>
                    <a:pt x="0" y="0"/>
                  </a:moveTo>
                  <a:lnTo>
                    <a:pt x="24384000" y="0"/>
                  </a:lnTo>
                  <a:lnTo>
                    <a:pt x="24384000" y="1662049"/>
                  </a:lnTo>
                  <a:lnTo>
                    <a:pt x="0" y="1662049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TextBox 13"/>
            <p:cNvSpPr/>
            <p:nvPr/>
          </p:nvSpPr>
          <p:spPr>
            <a:xfrm>
              <a:off x="0" y="1298159"/>
              <a:ext cx="18287640" cy="810301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t">
              <a:noAutofit/>
            </a:bodyPr>
            <a:lstStyle/>
            <a:p>
              <a:pPr marL="434520" indent="-217080" algn="just" defTabSz="914400">
                <a:lnSpc>
                  <a:spcPts val="2880"/>
                </a:lnSpc>
                <a:tabLst>
                  <a:tab pos="0" algn="l"/>
                </a:tabLst>
              </a:pPr>
              <a:endParaRPr lang="en-US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5" name="TextBox 14"/>
          <p:cNvSpPr/>
          <p:nvPr/>
        </p:nvSpPr>
        <p:spPr>
          <a:xfrm>
            <a:off x="469800" y="2127482"/>
            <a:ext cx="327240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/>
            <a:r>
              <a:rPr lang="en-US" sz="2400" b="1" strike="noStrike" spc="-1" dirty="0">
                <a:solidFill>
                  <a:srgbClr val="000000"/>
                </a:solidFill>
                <a:latin typeface="Arimo Bold"/>
                <a:ea typeface="Arimo Bold"/>
              </a:rPr>
              <a:t>Hardware Requirements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5"/>
          <p:cNvSpPr/>
          <p:nvPr/>
        </p:nvSpPr>
        <p:spPr>
          <a:xfrm>
            <a:off x="8401320" y="2113393"/>
            <a:ext cx="327240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/>
            <a:r>
              <a:rPr lang="en-US" sz="2400" b="1" strike="noStrike" spc="-1" dirty="0">
                <a:solidFill>
                  <a:srgbClr val="000000"/>
                </a:solidFill>
                <a:latin typeface="Arimo Bold"/>
                <a:ea typeface="Arimo Bold"/>
              </a:rPr>
              <a:t>Software Requirements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7" name="Group 16"/>
          <p:cNvGrpSpPr/>
          <p:nvPr/>
        </p:nvGrpSpPr>
        <p:grpSpPr>
          <a:xfrm>
            <a:off x="685800" y="7301160"/>
            <a:ext cx="9351720" cy="1142037"/>
            <a:chOff x="685800" y="7301160"/>
            <a:chExt cx="9351720" cy="1142037"/>
          </a:xfrm>
        </p:grpSpPr>
        <p:sp>
          <p:nvSpPr>
            <p:cNvPr id="178" name="TextBox 17"/>
            <p:cNvSpPr/>
            <p:nvPr/>
          </p:nvSpPr>
          <p:spPr>
            <a:xfrm>
              <a:off x="685800" y="7301160"/>
              <a:ext cx="4527360" cy="36933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4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Additional Requirements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" name="TextBox 18"/>
            <p:cNvSpPr/>
            <p:nvPr/>
          </p:nvSpPr>
          <p:spPr>
            <a:xfrm>
              <a:off x="893880" y="7612200"/>
              <a:ext cx="9143640" cy="83099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Lab space for controlled video capture (LED indicators under various lighting).</a:t>
              </a:r>
              <a:endParaRPr lang="en-US" b="0" strike="noStrike" spc="-1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Access to demo appliances or test devices with LEDs.</a:t>
              </a:r>
              <a:endParaRPr lang="en-US" b="0" strike="noStrike" spc="-1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>
                  <a:solidFill>
                    <a:srgbClr val="000000"/>
                  </a:solidFill>
                  <a:latin typeface="arial"/>
                  <a:ea typeface="arial"/>
                </a:rPr>
                <a:t>Permission for recording hardware videos inside labs.</a:t>
              </a:r>
              <a:endParaRPr lang="en-US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180" name="Table 19"/>
          <p:cNvGraphicFramePr/>
          <p:nvPr>
            <p:extLst>
              <p:ext uri="{D42A27DB-BD31-4B8C-83A1-F6EECF244321}">
                <p14:modId xmlns:p14="http://schemas.microsoft.com/office/powerpoint/2010/main" val="4158938776"/>
              </p:ext>
            </p:extLst>
          </p:nvPr>
        </p:nvGraphicFramePr>
        <p:xfrm>
          <a:off x="357120" y="3019426"/>
          <a:ext cx="7029270" cy="3759122"/>
        </p:xfrm>
        <a:graphic>
          <a:graphicData uri="http://schemas.openxmlformats.org/drawingml/2006/table">
            <a:tbl>
              <a:tblPr/>
              <a:tblGrid>
                <a:gridCol w="234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144"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Hardware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Purpose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Available at College?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803"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GPU (NVIDIA 3060 / 4060 / 4090 equivalent)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Model training (LED detection + OCR)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i="1" strike="noStrike" spc="-1">
                          <a:solidFill>
                            <a:srgbClr val="000000"/>
                          </a:solidFill>
                          <a:latin typeface="Canva Sans Italics"/>
                          <a:ea typeface="Canva Sans Italics"/>
                        </a:rPr>
                        <a:t>Likely Yes</a:t>
                      </a: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 – EC Dept GPU lab (confirm required)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677"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Workstation (16–32GB RAM)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Video processing + training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Yes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144"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Smartphone / HD Webcam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Capturing LED-blink dataset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Yes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677"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100–200GB Storage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Storing video dataset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Partial (depends on lab machine availability)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677"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Lighting Setup (optional)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Controlled LED video capture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681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Yes (basic setup)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1" name="Table 20"/>
          <p:cNvGraphicFramePr/>
          <p:nvPr>
            <p:extLst>
              <p:ext uri="{D42A27DB-BD31-4B8C-83A1-F6EECF244321}">
                <p14:modId xmlns:p14="http://schemas.microsoft.com/office/powerpoint/2010/main" val="1074144271"/>
              </p:ext>
            </p:extLst>
          </p:nvPr>
        </p:nvGraphicFramePr>
        <p:xfrm>
          <a:off x="8401320" y="2940201"/>
          <a:ext cx="6336720" cy="3911790"/>
        </p:xfrm>
        <a:graphic>
          <a:graphicData uri="http://schemas.openxmlformats.org/drawingml/2006/table">
            <a:tbl>
              <a:tblPr/>
              <a:tblGrid>
                <a:gridCol w="211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310"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Software / Library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Use Case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Available?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510"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Python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Core development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Yes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310"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1" strike="noStrike" spc="-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PyTorch</a:t>
                      </a: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 / TensorFlow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Model training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Yes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520"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OpenCV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LED blink detection, preprocessing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Yes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310"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Tesseract / </a:t>
                      </a:r>
                      <a:r>
                        <a:rPr lang="en-US" sz="1600" b="1" strike="noStrike" spc="-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EasyOCR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Error-code reading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Yes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310"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YOLO / </a:t>
                      </a:r>
                      <a:r>
                        <a:rPr lang="en-US" sz="1600" b="1" strike="noStrike" spc="-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EfficientNet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LED localization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Yes</a:t>
                      </a:r>
                      <a:endParaRPr lang="en-US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520"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Google </a:t>
                      </a:r>
                      <a:r>
                        <a:rPr lang="en-US" sz="1600" b="1" strike="noStrike" spc="-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Colab</a:t>
                      </a: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</a:rPr>
                        <a:t> Pro (optional)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Extra GPU compute if needed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ts val="1400"/>
                        </a:lnSpc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</a:rPr>
                        <a:t>No (but personal option)</a:t>
                      </a:r>
                      <a:endParaRPr lang="en-US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2"/>
          <p:cNvGrpSpPr/>
          <p:nvPr/>
        </p:nvGrpSpPr>
        <p:grpSpPr>
          <a:xfrm>
            <a:off x="0" y="157680"/>
            <a:ext cx="253800" cy="723600"/>
            <a:chOff x="0" y="157680"/>
            <a:chExt cx="253800" cy="723600"/>
          </a:xfrm>
        </p:grpSpPr>
        <p:sp>
          <p:nvSpPr>
            <p:cNvPr id="183" name="Freeform 3"/>
            <p:cNvSpPr/>
            <p:nvPr/>
          </p:nvSpPr>
          <p:spPr>
            <a:xfrm>
              <a:off x="0" y="157680"/>
              <a:ext cx="253800" cy="7236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84" name="Group 4"/>
          <p:cNvGrpSpPr/>
          <p:nvPr/>
        </p:nvGrpSpPr>
        <p:grpSpPr>
          <a:xfrm>
            <a:off x="572760" y="66600"/>
            <a:ext cx="14103000" cy="891360"/>
            <a:chOff x="572760" y="66600"/>
            <a:chExt cx="14103000" cy="891360"/>
          </a:xfrm>
        </p:grpSpPr>
        <p:sp>
          <p:nvSpPr>
            <p:cNvPr id="185" name="Freeform 5"/>
            <p:cNvSpPr/>
            <p:nvPr/>
          </p:nvSpPr>
          <p:spPr>
            <a:xfrm>
              <a:off x="572760" y="81000"/>
              <a:ext cx="14103000" cy="876960"/>
            </a:xfrm>
            <a:custGeom>
              <a:avLst/>
              <a:gdLst>
                <a:gd name="textAreaLeft" fmla="*/ 0 w 14103000"/>
                <a:gd name="textAreaRight" fmla="*/ 14103360 w 14103000"/>
                <a:gd name="textAreaTop" fmla="*/ 0 h 876960"/>
                <a:gd name="textAreaBottom" fmla="*/ 877320 h 876960"/>
              </a:gdLst>
              <a:ahLst/>
              <a:cxnLst/>
              <a:rect l="textAreaLeft" t="textAreaTop" r="textAreaRight" b="textAreaBottom"/>
              <a:pathLst>
                <a:path w="18804364" h="1169550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" name="TextBox 6"/>
            <p:cNvSpPr/>
            <p:nvPr/>
          </p:nvSpPr>
          <p:spPr>
            <a:xfrm>
              <a:off x="572760" y="66600"/>
              <a:ext cx="14103000" cy="89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5760"/>
                </a:lnSpc>
              </a:pPr>
              <a:r>
                <a:rPr lang="en-US" sz="4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Academic Calendar Breaks (If Any)</a:t>
              </a:r>
              <a:endParaRPr lang="en-US" sz="4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7" name="Group 7"/>
          <p:cNvGrpSpPr/>
          <p:nvPr/>
        </p:nvGrpSpPr>
        <p:grpSpPr>
          <a:xfrm>
            <a:off x="357120" y="157680"/>
            <a:ext cx="112680" cy="723600"/>
            <a:chOff x="357120" y="157680"/>
            <a:chExt cx="112680" cy="723600"/>
          </a:xfrm>
        </p:grpSpPr>
        <p:sp>
          <p:nvSpPr>
            <p:cNvPr id="188" name="Freeform 8"/>
            <p:cNvSpPr/>
            <p:nvPr/>
          </p:nvSpPr>
          <p:spPr>
            <a:xfrm>
              <a:off x="357120" y="157680"/>
              <a:ext cx="112680" cy="72360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" name="Group 9"/>
          <p:cNvGrpSpPr/>
          <p:nvPr/>
        </p:nvGrpSpPr>
        <p:grpSpPr>
          <a:xfrm>
            <a:off x="16413120" y="157680"/>
            <a:ext cx="1874520" cy="712080"/>
            <a:chOff x="16413120" y="157680"/>
            <a:chExt cx="1874520" cy="712080"/>
          </a:xfrm>
        </p:grpSpPr>
        <p:sp>
          <p:nvSpPr>
            <p:cNvPr id="190" name="Freeform 10"/>
            <p:cNvSpPr/>
            <p:nvPr/>
          </p:nvSpPr>
          <p:spPr>
            <a:xfrm>
              <a:off x="16413120" y="157680"/>
              <a:ext cx="1874520" cy="712080"/>
            </a:xfrm>
            <a:custGeom>
              <a:avLst/>
              <a:gdLst>
                <a:gd name="textAreaLeft" fmla="*/ 0 w 1874520"/>
                <a:gd name="textAreaRight" fmla="*/ 1874880 w 1874520"/>
                <a:gd name="textAreaTop" fmla="*/ 0 h 712080"/>
                <a:gd name="textAreaBottom" fmla="*/ 712440 h 712080"/>
              </a:gdLst>
              <a:ahLst/>
              <a:cxnLst/>
              <a:rect l="textAreaLeft" t="textAreaTop" r="textAreaRight" b="textAreaBottom"/>
              <a:pathLst>
                <a:path w="2499868" h="949833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" name="Group 11"/>
          <p:cNvGrpSpPr/>
          <p:nvPr/>
        </p:nvGrpSpPr>
        <p:grpSpPr>
          <a:xfrm>
            <a:off x="0" y="1298160"/>
            <a:ext cx="18287640" cy="5706720"/>
            <a:chOff x="0" y="1298160"/>
            <a:chExt cx="18287640" cy="5706720"/>
          </a:xfrm>
        </p:grpSpPr>
        <p:sp>
          <p:nvSpPr>
            <p:cNvPr id="192" name="Freeform 12"/>
            <p:cNvSpPr/>
            <p:nvPr/>
          </p:nvSpPr>
          <p:spPr>
            <a:xfrm>
              <a:off x="0" y="1326600"/>
              <a:ext cx="18287640" cy="567828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5678280"/>
                <a:gd name="textAreaBottom" fmla="*/ 5678640 h 5678280"/>
              </a:gdLst>
              <a:ahLst/>
              <a:cxnLst/>
              <a:rect l="textAreaLeft" t="textAreaTop" r="textAreaRight" b="textAreaBottom"/>
              <a:pathLst>
                <a:path w="24384000" h="7571359">
                  <a:moveTo>
                    <a:pt x="0" y="0"/>
                  </a:moveTo>
                  <a:lnTo>
                    <a:pt x="24384000" y="0"/>
                  </a:lnTo>
                  <a:lnTo>
                    <a:pt x="24384000" y="7571359"/>
                  </a:lnTo>
                  <a:lnTo>
                    <a:pt x="0" y="7571359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" name="TextBox 13"/>
            <p:cNvSpPr/>
            <p:nvPr/>
          </p:nvSpPr>
          <p:spPr>
            <a:xfrm>
              <a:off x="0" y="1298160"/>
              <a:ext cx="18287640" cy="57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t">
              <a:noAutofit/>
            </a:bodyPr>
            <a:lstStyle/>
            <a:p>
              <a:pPr algn="ctr" defTabSz="914400">
                <a:lnSpc>
                  <a:spcPts val="2880"/>
                </a:lnSpc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BE – 3ʳᵈ Year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5ᵗʰ Semester – CIE 2 – From 22ⁿᵈ Dec, 2025 to 26ᵗʰ Dec, 2025 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5ᵗʰ Semester – Preparatory Leave – 27ᵗʰ Dec, 2025 to 4ᵗʰ Jan, 2026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5ᵗʰ Semester – Semester End Examination – From 5ᵗʰ Jan, 2026 to 7ᵗʰ Feb, 2026 (Tentative)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6ᵗʰ Semester – CIE 1 – 25ᵗʰ March , 2026 to 28ᵗʰ March, 2026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6ᵗʰ Semester – CIE 2 – 22ⁿᵈ May, 2026 to 26ᵗʰ May, 2026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indent="-217080" algn="just" defTabSz="914400">
                <a:lnSpc>
                  <a:spcPts val="288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indent="-217080" algn="ctr" defTabSz="914400">
                <a:lnSpc>
                  <a:spcPts val="2880"/>
                </a:lnSpc>
                <a:tabLst>
                  <a:tab pos="0" algn="l"/>
                </a:tabLst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Mtech – 1ˢᵗ Year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1ˢᵗ Semester – CIE 1 – From 22ⁿᵈ Dec, 2025 to 24ᵗʰ Dec, 2025 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1ˢᵗ Semester – CIE2 – From 12ᵗʰ February 2026 to 14ᵗʰ February 2026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1ˢᵗ Semester - Commencement of SEE – From 23ʳᵈ February 2026 to 15ᵗʰ March 2026 (Tenatative)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2ⁿᵈ Semester – CIE 1 – From 4ᵗʰ May 2026 to 6ᵗʰ May 2026 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2ⁿᵈ Semester – CIE2 – From 24ᵗʰ June 2026 to 27ᵗʰ June 2026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lvl="1" indent="-217080" algn="just" defTabSz="914400">
                <a:lnSpc>
                  <a:spcPts val="2880"/>
                </a:lnSpc>
                <a:buClr>
                  <a:srgbClr val="000000"/>
                </a:buClr>
                <a:buFont typeface="Arial"/>
                <a:buChar char="•"/>
                <a:tabLst>
                  <a:tab pos="0" algn="l"/>
                </a:tabLst>
              </a:pPr>
              <a:r>
                <a:rPr lang="en-US" sz="2400" b="0" strike="noStrike" spc="-1">
                  <a:solidFill>
                    <a:srgbClr val="000000"/>
                  </a:solidFill>
                  <a:latin typeface="Calibri (MS)"/>
                  <a:ea typeface="Calibri (MS)"/>
                </a:rPr>
                <a:t>2ⁿᵈ Semester - Commencement of SEE – From 6ᵗʰ July 2026 to 31ˢᵗ July 2026 (Tenatative)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434520" indent="-217080" defTabSz="914400">
                <a:lnSpc>
                  <a:spcPts val="288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roup 2"/>
          <p:cNvGrpSpPr/>
          <p:nvPr/>
        </p:nvGrpSpPr>
        <p:grpSpPr>
          <a:xfrm>
            <a:off x="0" y="157680"/>
            <a:ext cx="253800" cy="723600"/>
            <a:chOff x="0" y="157680"/>
            <a:chExt cx="253800" cy="723600"/>
          </a:xfrm>
        </p:grpSpPr>
        <p:sp>
          <p:nvSpPr>
            <p:cNvPr id="195" name="Freeform 3"/>
            <p:cNvSpPr/>
            <p:nvPr/>
          </p:nvSpPr>
          <p:spPr>
            <a:xfrm>
              <a:off x="0" y="157680"/>
              <a:ext cx="253800" cy="7236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6" name="Group 4"/>
          <p:cNvGrpSpPr/>
          <p:nvPr/>
        </p:nvGrpSpPr>
        <p:grpSpPr>
          <a:xfrm>
            <a:off x="572760" y="66600"/>
            <a:ext cx="14103000" cy="891360"/>
            <a:chOff x="572760" y="66600"/>
            <a:chExt cx="14103000" cy="891360"/>
          </a:xfrm>
        </p:grpSpPr>
        <p:sp>
          <p:nvSpPr>
            <p:cNvPr id="197" name="Freeform 5"/>
            <p:cNvSpPr/>
            <p:nvPr/>
          </p:nvSpPr>
          <p:spPr>
            <a:xfrm>
              <a:off x="572760" y="81000"/>
              <a:ext cx="14103000" cy="876960"/>
            </a:xfrm>
            <a:custGeom>
              <a:avLst/>
              <a:gdLst>
                <a:gd name="textAreaLeft" fmla="*/ 0 w 14103000"/>
                <a:gd name="textAreaRight" fmla="*/ 14103360 w 14103000"/>
                <a:gd name="textAreaTop" fmla="*/ 0 h 876960"/>
                <a:gd name="textAreaBottom" fmla="*/ 877320 h 876960"/>
              </a:gdLst>
              <a:ahLst/>
              <a:cxnLst/>
              <a:rect l="textAreaLeft" t="textAreaTop" r="textAreaRight" b="textAreaBottom"/>
              <a:pathLst>
                <a:path w="18804364" h="1169550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" name="TextBox 6"/>
            <p:cNvSpPr/>
            <p:nvPr/>
          </p:nvSpPr>
          <p:spPr>
            <a:xfrm>
              <a:off x="572760" y="66600"/>
              <a:ext cx="14103000" cy="89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5760"/>
                </a:lnSpc>
              </a:pPr>
              <a:r>
                <a:rPr lang="en-US" sz="4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Queries</a:t>
              </a:r>
              <a:endParaRPr lang="en-US" sz="4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" name="Group 7"/>
          <p:cNvGrpSpPr/>
          <p:nvPr/>
        </p:nvGrpSpPr>
        <p:grpSpPr>
          <a:xfrm>
            <a:off x="357120" y="157680"/>
            <a:ext cx="112680" cy="723600"/>
            <a:chOff x="357120" y="157680"/>
            <a:chExt cx="112680" cy="723600"/>
          </a:xfrm>
        </p:grpSpPr>
        <p:sp>
          <p:nvSpPr>
            <p:cNvPr id="200" name="Freeform 8"/>
            <p:cNvSpPr/>
            <p:nvPr/>
          </p:nvSpPr>
          <p:spPr>
            <a:xfrm>
              <a:off x="357120" y="157680"/>
              <a:ext cx="112680" cy="72360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1" name="Group 9"/>
          <p:cNvGrpSpPr/>
          <p:nvPr/>
        </p:nvGrpSpPr>
        <p:grpSpPr>
          <a:xfrm>
            <a:off x="16413120" y="157680"/>
            <a:ext cx="1874520" cy="712080"/>
            <a:chOff x="16413120" y="157680"/>
            <a:chExt cx="1874520" cy="712080"/>
          </a:xfrm>
        </p:grpSpPr>
        <p:sp>
          <p:nvSpPr>
            <p:cNvPr id="202" name="Freeform 10"/>
            <p:cNvSpPr/>
            <p:nvPr/>
          </p:nvSpPr>
          <p:spPr>
            <a:xfrm>
              <a:off x="16413120" y="157680"/>
              <a:ext cx="1874520" cy="712080"/>
            </a:xfrm>
            <a:custGeom>
              <a:avLst/>
              <a:gdLst>
                <a:gd name="textAreaLeft" fmla="*/ 0 w 1874520"/>
                <a:gd name="textAreaRight" fmla="*/ 1874880 w 1874520"/>
                <a:gd name="textAreaTop" fmla="*/ 0 h 712080"/>
                <a:gd name="textAreaBottom" fmla="*/ 712440 h 712080"/>
              </a:gdLst>
              <a:ahLst/>
              <a:cxnLst/>
              <a:rect l="textAreaLeft" t="textAreaTop" r="textAreaRight" b="textAreaBottom"/>
              <a:pathLst>
                <a:path w="2499868" h="949833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3" name="Group 11"/>
          <p:cNvGrpSpPr/>
          <p:nvPr/>
        </p:nvGrpSpPr>
        <p:grpSpPr>
          <a:xfrm>
            <a:off x="360" y="1044309"/>
            <a:ext cx="18287640" cy="8198382"/>
            <a:chOff x="0" y="1181159"/>
            <a:chExt cx="18287640" cy="8198382"/>
          </a:xfrm>
        </p:grpSpPr>
        <p:sp>
          <p:nvSpPr>
            <p:cNvPr id="204" name="Freeform 12"/>
            <p:cNvSpPr/>
            <p:nvPr/>
          </p:nvSpPr>
          <p:spPr>
            <a:xfrm>
              <a:off x="0" y="1209599"/>
              <a:ext cx="18287640" cy="8169942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784440"/>
                <a:gd name="textAreaBottom" fmla="*/ 784800 h 784440"/>
              </a:gdLst>
              <a:ahLst/>
              <a:cxnLst/>
              <a:rect l="textAreaLeft" t="textAreaTop" r="textAreaRight" b="textAreaBottom"/>
              <a:pathLst>
                <a:path w="24384000" h="1046480">
                  <a:moveTo>
                    <a:pt x="0" y="0"/>
                  </a:moveTo>
                  <a:lnTo>
                    <a:pt x="24384000" y="0"/>
                  </a:lnTo>
                  <a:lnTo>
                    <a:pt x="24384000" y="1046480"/>
                  </a:lnTo>
                  <a:lnTo>
                    <a:pt x="0" y="1046480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5" name="TextBox 13"/>
            <p:cNvSpPr/>
            <p:nvPr/>
          </p:nvSpPr>
          <p:spPr>
            <a:xfrm>
              <a:off x="0" y="1181159"/>
              <a:ext cx="18287640" cy="776281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t">
              <a:noAutofit/>
            </a:bodyPr>
            <a:lstStyle/>
            <a:p>
              <a:pPr marL="434520" lvl="1" indent="-217080" algn="just" defTabSz="914400">
                <a:lnSpc>
                  <a:spcPts val="2880"/>
                </a:lnSpc>
                <a:buClr>
                  <a:srgbClr val="0E4094"/>
                </a:buClr>
                <a:buFont typeface="Arial"/>
                <a:buChar char="•"/>
              </a:pPr>
              <a:endParaRPr lang="en-US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" name="Group 14"/>
          <p:cNvGrpSpPr/>
          <p:nvPr/>
        </p:nvGrpSpPr>
        <p:grpSpPr>
          <a:xfrm>
            <a:off x="357119" y="1513980"/>
            <a:ext cx="8314114" cy="5133486"/>
            <a:chOff x="572760" y="2160360"/>
            <a:chExt cx="7490292" cy="5133486"/>
          </a:xfrm>
        </p:grpSpPr>
        <p:sp>
          <p:nvSpPr>
            <p:cNvPr id="207" name="TextBox 15"/>
            <p:cNvSpPr/>
            <p:nvPr/>
          </p:nvSpPr>
          <p:spPr>
            <a:xfrm>
              <a:off x="572760" y="2160360"/>
              <a:ext cx="3632400" cy="36933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4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Challenges / Roadblocks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" name="TextBox 16"/>
            <p:cNvSpPr/>
            <p:nvPr/>
          </p:nvSpPr>
          <p:spPr>
            <a:xfrm>
              <a:off x="726972" y="2584865"/>
              <a:ext cx="7336080" cy="470898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Lack of standardized LED-blink data → dataset must be constructed manually.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No public access to Samsung or OEM service manuals containing exact blink-timing charts.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Blink patterns vary significantly across devices → require separate mapping per family/model.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Real-world user videos likely to contain: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582840" lvl="2" indent="-194400" defTabSz="914400">
                <a:buClr>
                  <a:srgbClr val="000000"/>
                </a:buClr>
                <a:buFont typeface="Arial"/>
                <a:buChar char="⚬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blur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582840" lvl="2" indent="-194400" defTabSz="914400">
                <a:buClr>
                  <a:srgbClr val="000000"/>
                </a:buClr>
                <a:buFont typeface="Arial"/>
                <a:buChar char="⚬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glare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582840" lvl="2" indent="-194400" defTabSz="914400">
                <a:buClr>
                  <a:srgbClr val="000000"/>
                </a:buClr>
                <a:buFont typeface="Arial"/>
                <a:buChar char="⚬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low FPS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582840" lvl="2" indent="-194400" defTabSz="914400">
                <a:buClr>
                  <a:srgbClr val="000000"/>
                </a:buClr>
                <a:buFont typeface="Arial"/>
                <a:buChar char="⚬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irregular blinking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582840" lvl="2" indent="-194400" defTabSz="914400">
                <a:buClr>
                  <a:srgbClr val="000000"/>
                </a:buClr>
                <a:buFont typeface="Arial"/>
                <a:buChar char="⚬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mixed-color LEDs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Need clarity from mentor on whether to begin with a single appliance family or build a generic system initially.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OCR accuracy depends heavily on camera quality and lighting conditions.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GPU availability in college may require scheduling or lab permissions.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9" name="Group 17"/>
          <p:cNvGrpSpPr/>
          <p:nvPr/>
        </p:nvGrpSpPr>
        <p:grpSpPr>
          <a:xfrm>
            <a:off x="253800" y="6321654"/>
            <a:ext cx="8725772" cy="3724257"/>
            <a:chOff x="572760" y="5789880"/>
            <a:chExt cx="7861160" cy="3724257"/>
          </a:xfrm>
        </p:grpSpPr>
        <p:sp>
          <p:nvSpPr>
            <p:cNvPr id="210" name="TextBox 18"/>
            <p:cNvSpPr/>
            <p:nvPr/>
          </p:nvSpPr>
          <p:spPr>
            <a:xfrm>
              <a:off x="572760" y="5789880"/>
              <a:ext cx="3821400" cy="36933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4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Next Action Steps</a:t>
              </a:r>
              <a:endParaRPr lang="en-US" sz="2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" name="TextBox 19"/>
            <p:cNvSpPr/>
            <p:nvPr/>
          </p:nvSpPr>
          <p:spPr>
            <a:xfrm>
              <a:off x="716600" y="6190150"/>
              <a:ext cx="7717320" cy="332398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Begin with a single-device dataset (e.g., routers or washing machines) to simplify early development.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Record controlled LED-blink videos under varied lighting to build Phase-1 dataset.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Implement initial LED detection + blink frequency extraction using OpenCV.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Prototype OCR pipeline for reading error codes from static images and videos.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Finalize model architecture (e.g., YOLO for LED localization + temporal analysis for blinking).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Validate concept through a small PoC and refine based on mentor feedback.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" name="Group 20"/>
          <p:cNvGrpSpPr/>
          <p:nvPr/>
        </p:nvGrpSpPr>
        <p:grpSpPr>
          <a:xfrm>
            <a:off x="8768734" y="2238761"/>
            <a:ext cx="8773578" cy="1530373"/>
            <a:chOff x="8989561" y="2885141"/>
            <a:chExt cx="7904229" cy="1530373"/>
          </a:xfrm>
        </p:grpSpPr>
        <p:sp>
          <p:nvSpPr>
            <p:cNvPr id="213" name="TextBox 21"/>
            <p:cNvSpPr/>
            <p:nvPr/>
          </p:nvSpPr>
          <p:spPr>
            <a:xfrm>
              <a:off x="8989561" y="2885141"/>
              <a:ext cx="3821400" cy="36933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4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Target End-User</a:t>
              </a:r>
              <a:endParaRPr lang="en-US" sz="2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" name="TextBox 22"/>
            <p:cNvSpPr/>
            <p:nvPr/>
          </p:nvSpPr>
          <p:spPr>
            <a:xfrm>
              <a:off x="9176470" y="3307518"/>
              <a:ext cx="7717320" cy="110799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Is this solution meant for technicians, normal users, or internal Samsung use?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Based on the user type, should we deliver only the ML model or also a UI prototype?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5" name="Group 23"/>
          <p:cNvGrpSpPr/>
          <p:nvPr/>
        </p:nvGrpSpPr>
        <p:grpSpPr>
          <a:xfrm>
            <a:off x="8781597" y="3543576"/>
            <a:ext cx="8760714" cy="1142037"/>
            <a:chOff x="9036720" y="3729600"/>
            <a:chExt cx="7892640" cy="1142037"/>
          </a:xfrm>
        </p:grpSpPr>
        <p:sp>
          <p:nvSpPr>
            <p:cNvPr id="216" name="TextBox 24"/>
            <p:cNvSpPr/>
            <p:nvPr/>
          </p:nvSpPr>
          <p:spPr>
            <a:xfrm>
              <a:off x="9036720" y="3729600"/>
              <a:ext cx="3821400" cy="36933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4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Frontend Requirements</a:t>
              </a:r>
              <a:endParaRPr lang="en-US" sz="2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" name="TextBox 25"/>
            <p:cNvSpPr/>
            <p:nvPr/>
          </p:nvSpPr>
          <p:spPr>
            <a:xfrm>
              <a:off x="9212040" y="4040640"/>
              <a:ext cx="7717320" cy="83099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If a UI is needed, should it be a web app (preferred for ease) or a mobile app?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Or do we deliver no UI, only backend APIs / models?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8" name="TextBox 26"/>
          <p:cNvSpPr/>
          <p:nvPr/>
        </p:nvSpPr>
        <p:spPr>
          <a:xfrm>
            <a:off x="8661599" y="1595700"/>
            <a:ext cx="5025303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/>
            <a:r>
              <a:rPr lang="en-US" sz="3200" b="1" strike="noStrike" spc="-1">
                <a:solidFill>
                  <a:srgbClr val="000000"/>
                </a:solidFill>
                <a:latin typeface="Arimo Bold"/>
                <a:ea typeface="Arimo Bold"/>
              </a:rPr>
              <a:t>Queries for Mentor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9" name="Group 27"/>
          <p:cNvGrpSpPr/>
          <p:nvPr/>
        </p:nvGrpSpPr>
        <p:grpSpPr>
          <a:xfrm>
            <a:off x="8725653" y="4583476"/>
            <a:ext cx="8760714" cy="1531170"/>
            <a:chOff x="9036720" y="4576146"/>
            <a:chExt cx="7892640" cy="1531170"/>
          </a:xfrm>
        </p:grpSpPr>
        <p:sp>
          <p:nvSpPr>
            <p:cNvPr id="220" name="TextBox 28"/>
            <p:cNvSpPr/>
            <p:nvPr/>
          </p:nvSpPr>
          <p:spPr>
            <a:xfrm>
              <a:off x="9036720" y="4576146"/>
              <a:ext cx="3821400" cy="36933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defTabSz="914400"/>
              <a:r>
                <a:rPr lang="en-US" sz="2400" b="1" strike="noStrike" spc="-1" dirty="0">
                  <a:solidFill>
                    <a:srgbClr val="000000"/>
                  </a:solidFill>
                  <a:latin typeface="Arimo Bold"/>
                  <a:ea typeface="Arimo Bold"/>
                </a:rPr>
                <a:t>Dataset Clarification</a:t>
              </a:r>
              <a:endParaRPr lang="en-US" sz="2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TextBox 29"/>
            <p:cNvSpPr/>
            <p:nvPr/>
          </p:nvSpPr>
          <p:spPr>
            <a:xfrm>
              <a:off x="9212040" y="4999320"/>
              <a:ext cx="7717320" cy="110799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Do we need to collect the entire dataset ourselves (LED videos + error-code images)?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Will Samsung provide any starter dataset, patterns, or manuals?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  <a:p>
              <a:pPr marL="291600" lvl="1" indent="-145800" defTabSz="914400">
                <a:buClr>
                  <a:srgbClr val="000000"/>
                </a:buClr>
                <a:buFont typeface="Arial"/>
                <a:buChar char="•"/>
              </a:pPr>
              <a:r>
                <a:rPr lang="en-US" b="0" strike="noStrike" spc="-1" dirty="0">
                  <a:solidFill>
                    <a:srgbClr val="000000"/>
                  </a:solidFill>
                  <a:latin typeface="arial"/>
                  <a:ea typeface="arial"/>
                </a:rPr>
                <a:t>Are we allowed to use college devices/labs to record LED videos?</a:t>
              </a:r>
              <a:endParaRPr lang="en-US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oup 2"/>
          <p:cNvGrpSpPr/>
          <p:nvPr/>
        </p:nvGrpSpPr>
        <p:grpSpPr>
          <a:xfrm>
            <a:off x="0" y="157680"/>
            <a:ext cx="253800" cy="723600"/>
            <a:chOff x="0" y="157680"/>
            <a:chExt cx="253800" cy="723600"/>
          </a:xfrm>
        </p:grpSpPr>
        <p:sp>
          <p:nvSpPr>
            <p:cNvPr id="223" name="Freeform 3"/>
            <p:cNvSpPr/>
            <p:nvPr/>
          </p:nvSpPr>
          <p:spPr>
            <a:xfrm>
              <a:off x="0" y="157680"/>
              <a:ext cx="253800" cy="7236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4" name="Group 4"/>
          <p:cNvGrpSpPr/>
          <p:nvPr/>
        </p:nvGrpSpPr>
        <p:grpSpPr>
          <a:xfrm>
            <a:off x="572760" y="66600"/>
            <a:ext cx="14103000" cy="891360"/>
            <a:chOff x="572760" y="66600"/>
            <a:chExt cx="14103000" cy="891360"/>
          </a:xfrm>
        </p:grpSpPr>
        <p:sp>
          <p:nvSpPr>
            <p:cNvPr id="225" name="Freeform 5"/>
            <p:cNvSpPr/>
            <p:nvPr/>
          </p:nvSpPr>
          <p:spPr>
            <a:xfrm>
              <a:off x="572760" y="81000"/>
              <a:ext cx="14103000" cy="876960"/>
            </a:xfrm>
            <a:custGeom>
              <a:avLst/>
              <a:gdLst>
                <a:gd name="textAreaLeft" fmla="*/ 0 w 14103000"/>
                <a:gd name="textAreaRight" fmla="*/ 14103360 w 14103000"/>
                <a:gd name="textAreaTop" fmla="*/ 0 h 876960"/>
                <a:gd name="textAreaBottom" fmla="*/ 877320 h 876960"/>
              </a:gdLst>
              <a:ahLst/>
              <a:cxnLst/>
              <a:rect l="textAreaLeft" t="textAreaTop" r="textAreaRight" b="textAreaBottom"/>
              <a:pathLst>
                <a:path w="18804364" h="1169550">
                  <a:moveTo>
                    <a:pt x="0" y="0"/>
                  </a:moveTo>
                  <a:lnTo>
                    <a:pt x="18804364" y="0"/>
                  </a:lnTo>
                  <a:lnTo>
                    <a:pt x="18804364" y="1169550"/>
                  </a:lnTo>
                  <a:lnTo>
                    <a:pt x="0" y="11695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6" name="TextBox 6"/>
            <p:cNvSpPr/>
            <p:nvPr/>
          </p:nvSpPr>
          <p:spPr>
            <a:xfrm>
              <a:off x="572760" y="66600"/>
              <a:ext cx="14103000" cy="89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5760"/>
                </a:lnSpc>
              </a:pPr>
              <a:r>
                <a:rPr lang="en-US" sz="4800" b="1" strike="noStrike" spc="-1">
                  <a:solidFill>
                    <a:srgbClr val="000000"/>
                  </a:solidFill>
                  <a:latin typeface="Arimo Bold"/>
                  <a:ea typeface="Arimo Bold"/>
                </a:rPr>
                <a:t>Professor Comments</a:t>
              </a:r>
              <a:endParaRPr lang="en-US" sz="4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7" name="Group 7"/>
          <p:cNvGrpSpPr/>
          <p:nvPr/>
        </p:nvGrpSpPr>
        <p:grpSpPr>
          <a:xfrm>
            <a:off x="357120" y="157680"/>
            <a:ext cx="112680" cy="723600"/>
            <a:chOff x="357120" y="157680"/>
            <a:chExt cx="112680" cy="723600"/>
          </a:xfrm>
        </p:grpSpPr>
        <p:sp>
          <p:nvSpPr>
            <p:cNvPr id="228" name="Freeform 8"/>
            <p:cNvSpPr/>
            <p:nvPr/>
          </p:nvSpPr>
          <p:spPr>
            <a:xfrm>
              <a:off x="357120" y="157680"/>
              <a:ext cx="112680" cy="72360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723600"/>
                <a:gd name="textAreaBottom" fmla="*/ 723960 h 723600"/>
              </a:gdLst>
              <a:ahLst/>
              <a:cxnLst/>
              <a:rect l="textAreaLeft" t="textAreaTop" r="textAreaRight" b="textAreaBottom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" name="Group 9"/>
          <p:cNvGrpSpPr/>
          <p:nvPr/>
        </p:nvGrpSpPr>
        <p:grpSpPr>
          <a:xfrm>
            <a:off x="16413120" y="157680"/>
            <a:ext cx="1874520" cy="712080"/>
            <a:chOff x="16413120" y="157680"/>
            <a:chExt cx="1874520" cy="712080"/>
          </a:xfrm>
        </p:grpSpPr>
        <p:sp>
          <p:nvSpPr>
            <p:cNvPr id="230" name="Freeform 10"/>
            <p:cNvSpPr/>
            <p:nvPr/>
          </p:nvSpPr>
          <p:spPr>
            <a:xfrm>
              <a:off x="16413120" y="157680"/>
              <a:ext cx="1874520" cy="712080"/>
            </a:xfrm>
            <a:custGeom>
              <a:avLst/>
              <a:gdLst>
                <a:gd name="textAreaLeft" fmla="*/ 0 w 1874520"/>
                <a:gd name="textAreaRight" fmla="*/ 1874880 w 1874520"/>
                <a:gd name="textAreaTop" fmla="*/ 0 h 712080"/>
                <a:gd name="textAreaBottom" fmla="*/ 712440 h 712080"/>
              </a:gdLst>
              <a:ahLst/>
              <a:cxnLst/>
              <a:rect l="textAreaLeft" t="textAreaTop" r="textAreaRight" b="textAreaBottom"/>
              <a:pathLst>
                <a:path w="2499868" h="949833">
                  <a:moveTo>
                    <a:pt x="0" y="0"/>
                  </a:moveTo>
                  <a:lnTo>
                    <a:pt x="2499868" y="0"/>
                  </a:lnTo>
                  <a:lnTo>
                    <a:pt x="2499868" y="949833"/>
                  </a:lnTo>
                  <a:lnTo>
                    <a:pt x="0" y="94983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1" name="Group 11"/>
          <p:cNvGrpSpPr/>
          <p:nvPr/>
        </p:nvGrpSpPr>
        <p:grpSpPr>
          <a:xfrm>
            <a:off x="-1" y="1326599"/>
            <a:ext cx="18673764" cy="8131725"/>
            <a:chOff x="0" y="1326599"/>
            <a:chExt cx="18644760" cy="8131725"/>
          </a:xfrm>
        </p:grpSpPr>
        <p:sp>
          <p:nvSpPr>
            <p:cNvPr id="232" name="Freeform 12"/>
            <p:cNvSpPr/>
            <p:nvPr/>
          </p:nvSpPr>
          <p:spPr>
            <a:xfrm>
              <a:off x="0" y="1326599"/>
              <a:ext cx="18287640" cy="8131725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984680"/>
                <a:gd name="textAreaBottom" fmla="*/ 1985040 h 1984680"/>
              </a:gdLst>
              <a:ahLst/>
              <a:cxnLst/>
              <a:rect l="textAreaLeft" t="textAreaTop" r="textAreaRight" b="textAreaBottom"/>
              <a:pathLst>
                <a:path w="24384000" h="2646934">
                  <a:moveTo>
                    <a:pt x="0" y="0"/>
                  </a:moveTo>
                  <a:lnTo>
                    <a:pt x="24384000" y="0"/>
                  </a:lnTo>
                  <a:lnTo>
                    <a:pt x="24384000" y="2646934"/>
                  </a:lnTo>
                  <a:lnTo>
                    <a:pt x="0" y="2646934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" name="TextBox 13"/>
            <p:cNvSpPr/>
            <p:nvPr/>
          </p:nvSpPr>
          <p:spPr>
            <a:xfrm>
              <a:off x="357120" y="1499186"/>
              <a:ext cx="18287640" cy="728862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t">
              <a:noAutofit/>
            </a:bodyPr>
            <a:lstStyle/>
            <a:p>
              <a:r>
                <a:rPr lang="en-US" sz="2400" b="1" dirty="0"/>
                <a:t>Proposed Monthly Progress Approach</a:t>
              </a:r>
              <a:endParaRPr lang="en-US" dirty="0"/>
            </a:p>
            <a:p>
              <a:r>
                <a:rPr lang="en-US" sz="2000" dirty="0"/>
                <a:t>The worklet will be completed within the stipulated </a:t>
              </a:r>
              <a:r>
                <a:rPr lang="en-US" sz="2000" b="1" dirty="0"/>
                <a:t>6-month timeline</a:t>
              </a:r>
              <a:r>
                <a:rPr lang="en-US" sz="2000" dirty="0"/>
                <a:t>, strictly adhering to the milestones suggested by the Samsung PRISM team.</a:t>
              </a:r>
            </a:p>
            <a:p>
              <a:r>
                <a:rPr lang="en-US" sz="2000" b="1" dirty="0"/>
                <a:t>Month 1–2:</a:t>
              </a:r>
              <a:r>
                <a:rPr lang="en-US" sz="2000" dirty="0"/>
                <a:t> Literature survey and study of the state-of-the-art methods related to the problem statement.</a:t>
              </a:r>
            </a:p>
            <a:p>
              <a:r>
                <a:rPr lang="en-US" sz="2000" b="1" dirty="0"/>
                <a:t>Month 3:</a:t>
              </a:r>
              <a:r>
                <a:rPr lang="en-US" sz="2000" dirty="0"/>
                <a:t> Data collection phase after finalizing the data sources, devices, and camera specifications.</a:t>
              </a:r>
            </a:p>
            <a:p>
              <a:r>
                <a:rPr lang="en-US" sz="2000" b="1" dirty="0"/>
                <a:t>Month 4:</a:t>
              </a:r>
              <a:r>
                <a:rPr lang="en-US" sz="2000" dirty="0"/>
                <a:t> Data preprocessing and augmentation (if required), especially for Deep Learning models.</a:t>
              </a:r>
            </a:p>
            <a:p>
              <a:r>
                <a:rPr lang="en-US" sz="2000" b="1" dirty="0"/>
                <a:t>Month 5:</a:t>
              </a:r>
              <a:r>
                <a:rPr lang="en-US" sz="2000" dirty="0"/>
                <a:t> Implementation and experimentation with Machine Learning and Deep Learning algorithms.</a:t>
              </a:r>
            </a:p>
            <a:p>
              <a:r>
                <a:rPr lang="en-US" sz="2000" b="1" dirty="0"/>
                <a:t>Month 6:</a:t>
              </a:r>
              <a:r>
                <a:rPr lang="en-US" sz="2000" dirty="0"/>
                <a:t> Performance evaluation, result analysis, explainability integration, and final refinements.</a:t>
              </a:r>
            </a:p>
            <a:p>
              <a:endParaRPr lang="en-US" sz="2400" b="1" dirty="0"/>
            </a:p>
            <a:p>
              <a:r>
                <a:rPr lang="en-US" sz="2400" b="1" dirty="0"/>
                <a:t>Latest Paper Review &amp; State-of-the-Art Study</a:t>
              </a:r>
              <a:endParaRPr lang="en-US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Students will conduct an extensive literature survey on recent research works in the problem domain.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Emphasis will be placed on understanding current ML/DL-based approaches, datasets used, performance benchmarks, and existing limitations.</a:t>
              </a:r>
            </a:p>
            <a:p>
              <a:endParaRPr lang="en-US" sz="2400" b="1" dirty="0"/>
            </a:p>
            <a:p>
              <a:r>
                <a:rPr lang="en-US" sz="2400" b="1" dirty="0"/>
                <a:t>Professor Expert Insights</a:t>
              </a:r>
              <a:endParaRPr lang="en-US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Identification of </a:t>
              </a:r>
              <a:r>
                <a:rPr lang="en-US" sz="2000" b="1" dirty="0"/>
                <a:t>data acquisition devices</a:t>
              </a:r>
              <a:r>
                <a:rPr lang="en-US" sz="2000" dirty="0"/>
                <a:t> and </a:t>
              </a:r>
              <a:r>
                <a:rPr lang="en-US" sz="2000" b="1" dirty="0"/>
                <a:t>camera specifications</a:t>
              </a:r>
              <a:r>
                <a:rPr lang="en-US" sz="2000" dirty="0"/>
                <a:t> is crucial; guidance from Samsung mentors is requested for standardization.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Both </a:t>
              </a:r>
              <a:r>
                <a:rPr lang="en-US" sz="2000" b="1" dirty="0"/>
                <a:t>ML and DL models</a:t>
              </a:r>
              <a:r>
                <a:rPr lang="en-US" sz="2000" dirty="0"/>
                <a:t> will be explored to analyze and classify the collected data effectively.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The use of </a:t>
              </a:r>
              <a:r>
                <a:rPr lang="en-US" sz="2000" b="1" dirty="0"/>
                <a:t>Explainable AI (XAI)</a:t>
              </a:r>
              <a:r>
                <a:rPr lang="en-US" sz="2000" dirty="0"/>
                <a:t> techniques is encouraged to enhance model transparency and improve user trust.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Clarification on the </a:t>
              </a:r>
              <a:r>
                <a:rPr lang="en-US" sz="2000" b="1" dirty="0"/>
                <a:t>target user demography</a:t>
              </a:r>
              <a:r>
                <a:rPr lang="en-US" sz="2000" dirty="0"/>
                <a:t> will help tailor the solution for better usability and real-world relevance.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"/>
          <p:cNvGrpSpPr/>
          <p:nvPr/>
        </p:nvGrpSpPr>
        <p:grpSpPr>
          <a:xfrm>
            <a:off x="3294720" y="790200"/>
            <a:ext cx="13735440" cy="8474760"/>
            <a:chOff x="3294720" y="790200"/>
            <a:chExt cx="13735440" cy="8474760"/>
          </a:xfrm>
        </p:grpSpPr>
        <p:sp>
          <p:nvSpPr>
            <p:cNvPr id="235" name="Freeform 3"/>
            <p:cNvSpPr/>
            <p:nvPr/>
          </p:nvSpPr>
          <p:spPr>
            <a:xfrm>
              <a:off x="3294720" y="790200"/>
              <a:ext cx="13735440" cy="8474760"/>
            </a:xfrm>
            <a:custGeom>
              <a:avLst/>
              <a:gdLst>
                <a:gd name="textAreaLeft" fmla="*/ 0 w 13735440"/>
                <a:gd name="textAreaRight" fmla="*/ 13735800 w 13735440"/>
                <a:gd name="textAreaTop" fmla="*/ 0 h 8474760"/>
                <a:gd name="textAreaBottom" fmla="*/ 8475120 h 8474760"/>
              </a:gdLst>
              <a:ahLst/>
              <a:cxnLst/>
              <a:rect l="textAreaLeft" t="textAreaTop" r="textAreaRight" b="textAreaBottom"/>
              <a:pathLst>
                <a:path w="18314504" h="11300378">
                  <a:moveTo>
                    <a:pt x="0" y="0"/>
                  </a:moveTo>
                  <a:lnTo>
                    <a:pt x="18314504" y="0"/>
                  </a:lnTo>
                  <a:lnTo>
                    <a:pt x="18314504" y="11300378"/>
                  </a:lnTo>
                  <a:lnTo>
                    <a:pt x="0" y="1130037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6" name="TextBox 4"/>
            <p:cNvSpPr/>
            <p:nvPr/>
          </p:nvSpPr>
          <p:spPr>
            <a:xfrm>
              <a:off x="3294720" y="968760"/>
              <a:ext cx="13735440" cy="829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ts val="22357"/>
                </a:lnSpc>
              </a:pPr>
              <a:r>
                <a:rPr lang="en-US" sz="20700" b="0" strike="noStrike" spc="-1">
                  <a:solidFill>
                    <a:srgbClr val="5B9BD5"/>
                  </a:solidFill>
                  <a:latin typeface="ITC Edwardian Script"/>
                  <a:ea typeface="ITC Edwardian Script"/>
                </a:rPr>
                <a:t>Thank you</a:t>
              </a:r>
              <a:endParaRPr lang="en-US" sz="207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" name="Group 5"/>
          <p:cNvGrpSpPr/>
          <p:nvPr/>
        </p:nvGrpSpPr>
        <p:grpSpPr>
          <a:xfrm>
            <a:off x="1146960" y="-37080"/>
            <a:ext cx="1476360" cy="10323720"/>
            <a:chOff x="1146960" y="-37080"/>
            <a:chExt cx="1476360" cy="10323720"/>
          </a:xfrm>
        </p:grpSpPr>
        <p:sp>
          <p:nvSpPr>
            <p:cNvPr id="238" name="Freeform 6"/>
            <p:cNvSpPr/>
            <p:nvPr/>
          </p:nvSpPr>
          <p:spPr>
            <a:xfrm>
              <a:off x="1146960" y="-37080"/>
              <a:ext cx="1476360" cy="10323720"/>
            </a:xfrm>
            <a:custGeom>
              <a:avLst/>
              <a:gdLst>
                <a:gd name="textAreaLeft" fmla="*/ 0 w 1476360"/>
                <a:gd name="textAreaRight" fmla="*/ 1476720 w 1476360"/>
                <a:gd name="textAreaTop" fmla="*/ 0 h 10323720"/>
                <a:gd name="textAreaBottom" fmla="*/ 10324080 h 10323720"/>
              </a:gdLst>
              <a:ahLst/>
              <a:cxnLst/>
              <a:rect l="textAreaLeft" t="textAreaTop" r="textAreaRight" b="textAreaBottom"/>
              <a:pathLst>
                <a:path w="1969135" h="13765276">
                  <a:moveTo>
                    <a:pt x="0" y="0"/>
                  </a:moveTo>
                  <a:lnTo>
                    <a:pt x="1969135" y="0"/>
                  </a:lnTo>
                  <a:lnTo>
                    <a:pt x="1969135" y="13765276"/>
                  </a:lnTo>
                  <a:lnTo>
                    <a:pt x="0" y="13765276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" name="Group 7"/>
          <p:cNvGrpSpPr/>
          <p:nvPr/>
        </p:nvGrpSpPr>
        <p:grpSpPr>
          <a:xfrm>
            <a:off x="0" y="0"/>
            <a:ext cx="924120" cy="10286640"/>
            <a:chOff x="0" y="0"/>
            <a:chExt cx="924120" cy="10286640"/>
          </a:xfrm>
        </p:grpSpPr>
        <p:sp>
          <p:nvSpPr>
            <p:cNvPr id="240" name="Freeform 8"/>
            <p:cNvSpPr/>
            <p:nvPr/>
          </p:nvSpPr>
          <p:spPr>
            <a:xfrm>
              <a:off x="0" y="0"/>
              <a:ext cx="924120" cy="10286640"/>
            </a:xfrm>
            <a:custGeom>
              <a:avLst/>
              <a:gdLst>
                <a:gd name="textAreaLeft" fmla="*/ 0 w 924120"/>
                <a:gd name="textAreaRight" fmla="*/ 924480 w 92412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1232408" h="13716000">
                  <a:moveTo>
                    <a:pt x="0" y="0"/>
                  </a:moveTo>
                  <a:lnTo>
                    <a:pt x="1232408" y="0"/>
                  </a:lnTo>
                  <a:lnTo>
                    <a:pt x="12324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1869</Words>
  <Application>Microsoft Office PowerPoint</Application>
  <PresentationFormat>Custom</PresentationFormat>
  <Paragraphs>227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5" baseType="lpstr">
      <vt:lpstr>Arial</vt:lpstr>
      <vt:lpstr>Arial</vt:lpstr>
      <vt:lpstr>Arimo Bold</vt:lpstr>
      <vt:lpstr>Calibri</vt:lpstr>
      <vt:lpstr>Calibri (MS)</vt:lpstr>
      <vt:lpstr>Calibri (MS) Bold</vt:lpstr>
      <vt:lpstr>Canva Sans</vt:lpstr>
      <vt:lpstr>Canva Sans Bold</vt:lpstr>
      <vt:lpstr>Canva Sans Italics</vt:lpstr>
      <vt:lpstr>ITC Edwardian Script</vt:lpstr>
      <vt:lpstr>OpenSymbol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Preliminary_Templates_for_PRISM[1].pptx</dc:title>
  <dc:subject/>
  <dc:creator/>
  <dc:description/>
  <cp:lastModifiedBy>anaghashree1937@gmail.com</cp:lastModifiedBy>
  <cp:revision>10</cp:revision>
  <dcterms:created xsi:type="dcterms:W3CDTF">2006-08-16T00:00:00Z</dcterms:created>
  <dcterms:modified xsi:type="dcterms:W3CDTF">2025-12-16T16:02:17Z</dcterms:modified>
  <dc:identifier>DAG7Ip3W_Qo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